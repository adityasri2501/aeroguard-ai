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00c5a7aba704e9b" /><Relationship Type="http://schemas.openxmlformats.org/officeDocument/2006/relationships/extended-properties" Target="/docProps/app.xml" Id="R19314be3bdf947cd" /><Relationship Type="http://schemas.openxmlformats.org/officeDocument/2006/relationships/officeDocument" Target="/ppt/presentation.xml" Id="Rf230ff7391f044de" /></Relationships>
</file>

<file path=ppt/presentation.xml><?xml version="1.0" encoding="utf-8"?>
<p:presentation xmlns:p="http://schemas.openxmlformats.org/presentationml/2006/main">
  <p:sldMasterIdLst>
    <p:sldMasterId xmlns:r="http://schemas.openxmlformats.org/officeDocument/2006/relationships" id="2147483648" r:id="Rf8688cc852f64a28"/>
  </p:sldMasterIdLst>
  <p:notesMasterIdLst>
    <p:notesMasterId xmlns:r="http://schemas.openxmlformats.org/officeDocument/2006/relationships" r:id="R8c18659470404ced"/>
  </p:notesMasterIdLst>
  <p:sldIdLst>
    <p:sldId xmlns:r="http://schemas.openxmlformats.org/officeDocument/2006/relationships" id="256" r:id="R7b931ba4b0984cd2"/>
    <p:sldId xmlns:r="http://schemas.openxmlformats.org/officeDocument/2006/relationships" id="257" r:id="R0bf1398e68024bf0"/>
    <p:sldId xmlns:r="http://schemas.openxmlformats.org/officeDocument/2006/relationships" id="258" r:id="R0aa3903065ee4735"/>
    <p:sldId xmlns:r="http://schemas.openxmlformats.org/officeDocument/2006/relationships" id="259" r:id="R308d0633880646af"/>
    <p:sldId xmlns:r="http://schemas.openxmlformats.org/officeDocument/2006/relationships" id="260" r:id="Rfc055446fbc248a4"/>
    <p:sldId xmlns:r="http://schemas.openxmlformats.org/officeDocument/2006/relationships" id="261" r:id="Rb779480ed79142b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42c0f52f5524857" /><Relationship Type="http://schemas.openxmlformats.org/officeDocument/2006/relationships/slideMaster" Target="/ppt/slideMasters/slideMaster1.xml" Id="Rf8688cc852f64a28" /><Relationship Type="http://schemas.openxmlformats.org/officeDocument/2006/relationships/notesMaster" Target="/ppt/notesMasters/notesMaster1.xml" Id="R8c18659470404ced" /><Relationship Type="http://schemas.openxmlformats.org/officeDocument/2006/relationships/presProps" Target="/ppt/presProps.xml" Id="R86a2154a76124e43" /><Relationship Type="http://schemas.openxmlformats.org/officeDocument/2006/relationships/tableStyles" Target="/ppt/tableStyles.xml" Id="Rbee5d66a843c4acd" /><Relationship Type="http://schemas.openxmlformats.org/officeDocument/2006/relationships/slide" Target="/ppt/slides/slide1.xml" Id="R7b931ba4b0984cd2" /><Relationship Type="http://schemas.openxmlformats.org/officeDocument/2006/relationships/slide" Target="/ppt/slides/slide2.xml" Id="R0bf1398e68024bf0" /><Relationship Type="http://schemas.openxmlformats.org/officeDocument/2006/relationships/slide" Target="/ppt/slides/slide3.xml" Id="R0aa3903065ee4735" /><Relationship Type="http://schemas.openxmlformats.org/officeDocument/2006/relationships/slide" Target="/ppt/slides/slide4.xml" Id="R308d0633880646af" /><Relationship Type="http://schemas.openxmlformats.org/officeDocument/2006/relationships/slide" Target="/ppt/slides/slide5.xml" Id="Rfc055446fbc248a4" /><Relationship Type="http://schemas.openxmlformats.org/officeDocument/2006/relationships/slide" Target="/ppt/slides/slide6.xml" Id="Rb779480ed79142b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b5474ee80d0457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100970232ea4ea4" /><Relationship Type="http://schemas.openxmlformats.org/officeDocument/2006/relationships/notesMaster" Target="/ppt/notesMasters/notesMaster1.xml" Id="Ra5dd37bdbd9543a8" /></Relationships>
</file>

<file path=ppt/notesSlides/_rels/notesSlide2.xml.rels>&#65279;<?xml version="1.0" encoding="utf-8"?><Relationships xmlns="http://schemas.openxmlformats.org/package/2006/relationships"><Relationship Type="http://schemas.openxmlformats.org/officeDocument/2006/relationships/slide" Target="/ppt/slides/slide2.xml" Id="Rcbcbfca70c604c0c" /><Relationship Type="http://schemas.openxmlformats.org/officeDocument/2006/relationships/notesMaster" Target="/ppt/notesMasters/notesMaster1.xml" Id="R34bdc7de19fb496a" /></Relationships>
</file>

<file path=ppt/notesSlides/_rels/notesSlide3.xml.rels>&#65279;<?xml version="1.0" encoding="utf-8"?><Relationships xmlns="http://schemas.openxmlformats.org/package/2006/relationships"><Relationship Type="http://schemas.openxmlformats.org/officeDocument/2006/relationships/slide" Target="/ppt/slides/slide3.xml" Id="Rc98035f462134489" /><Relationship Type="http://schemas.openxmlformats.org/officeDocument/2006/relationships/notesMaster" Target="/ppt/notesMasters/notesMaster1.xml" Id="Ra50d329befe648ec" /></Relationships>
</file>

<file path=ppt/notesSlides/_rels/notesSlide4.xml.rels>&#65279;<?xml version="1.0" encoding="utf-8"?><Relationships xmlns="http://schemas.openxmlformats.org/package/2006/relationships"><Relationship Type="http://schemas.openxmlformats.org/officeDocument/2006/relationships/slide" Target="/ppt/slides/slide4.xml" Id="R429721c65c154cc8" /><Relationship Type="http://schemas.openxmlformats.org/officeDocument/2006/relationships/notesMaster" Target="/ppt/notesMasters/notesMaster1.xml" Id="Red1ae39cca574bd4" /></Relationships>
</file>

<file path=ppt/notesSlides/_rels/notesSlide5.xml.rels>&#65279;<?xml version="1.0" encoding="utf-8"?><Relationships xmlns="http://schemas.openxmlformats.org/package/2006/relationships"><Relationship Type="http://schemas.openxmlformats.org/officeDocument/2006/relationships/slide" Target="/ppt/slides/slide5.xml" Id="Rfb538d7f84c94eff" /><Relationship Type="http://schemas.openxmlformats.org/officeDocument/2006/relationships/notesMaster" Target="/ppt/notesMasters/notesMaster1.xml" Id="Rbd795b86e0244aa5" /></Relationships>
</file>

<file path=ppt/notesSlides/_rels/notesSlide6.xml.rels>&#65279;<?xml version="1.0" encoding="utf-8"?><Relationships xmlns="http://schemas.openxmlformats.org/package/2006/relationships"><Relationship Type="http://schemas.openxmlformats.org/officeDocument/2006/relationships/slide" Target="/ppt/slides/slide6.xml" Id="R7f7019bbd5ef4f86" /><Relationship Type="http://schemas.openxmlformats.org/officeDocument/2006/relationships/notesMaster" Target="/ppt/notesMasters/notesMaster1.xml" Id="Rcf89cb957f2744d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explain a practical predictive-maintenance solution while being precise about current data limits. Today the prototype can use real public aviation data and a real general-aviation benchmark. It cannot claim Indian military fleet readiness without authorized MoD/IAF records. The target design is a secure, human-reviewed maintenance decision-support 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detail: (1) ingest health monitoring telemetry, flight/sortie hours and cycles, technical logbook defects, work orders, component changes, stock balances and maintenance capacity. (2) Use approved on-prem or defence network connectors; validate source, schema, clock, units, missingness, asset identity and duplicate events before processing. Preserve immutable raw evidence. (3) Link aircraft, engine/component, sortie, fault, maintenance task, part, base/unit and availability periods using stable authorized identifiers. (4) Analytics produce advisory anomaly scores, failure risk and remaining-life estimates only after validation, plus parts and availability forecasts. (5) Engineers review evidence, approve action and record actual findings; the model never autonomously grounds an aircraft or closes a technical record. Security controls apply end-to-end.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evidence: India operational context uses IndiGo’s published operational statistics page, which says values are as reported by DGCA (https://www.goindigo.in/information/investor-relations/operational-statistics/domestic.html), and AAIB annual accident/incident statistics (https://aaib.gov.in/Accidenetstatistics.html). The real sensor case and event labels are from the NGAFID-LOCI-GATS public dataset (CC BY 4.0; https://huggingface.co/datasets/CDuong04/NGAFID-LOCI-GATS-Data). The separate NGAFID aviation maintenance benchmark record contains flight recordings linked to maintenance labels and is multiple gigabytes (https://doi.org/10.5281/zenodo.6624956). The Cessna event example validates ingestion and visualization only; it is not a trained or validated defence model. Target defence sources must be provided through an authorized MoD/IAF channel. Data preparation: retain provenance, units, aircraft/component identity, source timestamps and maintenance outcome; exclude post-failure data from pre-failure features. Split by aircraft identity and chronological period to prevent leakage.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workflow prevents a model score from becoming an unsupported maintenance instruction. Source data enters with quality status and provenance. The model returns a ranked advisory with an explanation (sensor trend, operating regime, relevant history), not a diagnosis. Engineering staff confirm the alert against the approved technical procedure and create/approve a maintenance task. The planner sees work scope, skill requirements, part stock/location and predicted return-to-service impacts. The maintainer records the actual finding, replacement/repair, labour and closeout; follow-up telemetry and service outcomes become labels after review. All actions are versioned and auditable.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Availability must use an authoritative, time-stamped serviceability state and a defined denominator. Do not infer defence fleet availability from public civil aircraft departures or accident counts. The planning layer joins each open work order to aircraft/component, task duration and skill, spares reservations and stock, base/agency capacity, and expected return-to-service time. It can then calculate constraints and scenario forecasts such as “if part X arrives on date D, aircraft A could return after task T.” This is decision support: the planning forecast does not authorize dispatch or override maintenance release rules. Missing or stale status is shown as unknown, never silently counted serviceable.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Pilot gates: (1) data owner and operational authority approve the scope and data handling. (2) Integrate one platform/unit with pseudonymized stable IDs where possible; preserve source timestamps, component hierarchy and units. (3) Run in shadow mode with no effect on dispatch or maintenance release; compare alerts to engineer findings and quantify false alarms and missed events. (4) Enable advisory recommendations only after engineering acceptance criteria and governance approval. (5) Scale per platform with independent validation, change control, model versioning and drift monitoring. Ask for authorized/sanitized exports of health telemetry, hours/cycles, technical defects, work orders with opened/closed/return-to-service time, part issues and stock position, and serviceability history. Data minimization and approved network placement are design controls; the user organization determines classification and handling requirements.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ac463794f5f4c3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1677a534ee84f16" /><Relationship Type="http://schemas.openxmlformats.org/officeDocument/2006/relationships/slideLayout" Target="/ppt/slideLayouts/slideLayout1.xml" Id="R614d0fae19144db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14d0fae19144db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6aaf6af75ce4069" /><Relationship Type="http://schemas.openxmlformats.org/officeDocument/2006/relationships/notesSlide" Target="/ppt/notesSlides/notesSlide1.xml" Id="R240751d5c4b44b2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23a8caeb13d4c69" /><Relationship Type="http://schemas.openxmlformats.org/officeDocument/2006/relationships/notesSlide" Target="/ppt/notesSlides/notesSlide2.xml" Id="R46a3fa22936f4db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3f81c5e588c4b05" /><Relationship Type="http://schemas.openxmlformats.org/officeDocument/2006/relationships/notesSlide" Target="/ppt/notesSlides/notesSlide3.xml" Id="Rcacbc43d3688461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ca0176271634cbc" /><Relationship Type="http://schemas.openxmlformats.org/officeDocument/2006/relationships/notesSlide" Target="/ppt/notesSlides/notesSlide4.xml" Id="Ree33d97bc39b475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4c548cd6e5f4430" /><Relationship Type="http://schemas.openxmlformats.org/officeDocument/2006/relationships/notesSlide" Target="/ppt/notesSlides/notesSlide5.xml" Id="R713253e38643409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4dc94286a8e48d6" /><Relationship Type="http://schemas.openxmlformats.org/officeDocument/2006/relationships/notesSlide" Target="/ppt/notesSlides/notesSlide6.xml" Id="R5a51d526c6e14530" /></Relationships>
</file>

<file path=ppt/slides/slide1.xml><?xml version="1.0" encoding="utf-8"?>
<p:sld xmlns:p="http://schemas.openxmlformats.org/presentationml/2006/main">
  <p:cSld>
    <p:bg>
      <p:bgPr>
        <a:solidFill xmlns:a="http://schemas.openxmlformats.org/drawingml/2006/main">
          <a:srgbClr val="10263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468C10A-2936-412A-A6DD-628BCA8B17A8}"/>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87E80"/>
          </a:solidFill>
          <a:ln xmlns:a="http://schemas.openxmlformats.org/drawingml/2006/main" w="0">
            <a:solidFill>
              <a:srgbClr val="087E80"/>
            </a:solidFill>
            <a:prstDash val="solid"/>
          </a:ln>
        </p:spPr>
      </p:sp>
      <p:sp>
        <p:nvSpPr>
          <p:cNvPr id="2" name="">
            <a:extLst xmlns:a="http://schemas.openxmlformats.org/drawingml/2006/main">
              <a:ext uri="{FF2B5EF4-FFF2-40B4-BE49-F238E27FC236}">
                <a16:creationId xmlns:a16="http://schemas.microsoft.com/office/drawing/2014/main" id="{507542E1-2B5A-4FE2-AFB3-E4790FEA4B45}"/>
              </a:ext>
            </a:extLst>
          </p:cNvPr>
          <p:cNvSpPr>
            <a:spLocks xmlns:a="http://schemas.openxmlformats.org/drawingml/2006/main" noGrp="1"/>
          </p:cNvSpPr>
          <p:nvPr/>
        </p:nvSpPr>
        <p:spPr>
          <a:xfrm xmlns:a="http://schemas.openxmlformats.org/drawingml/2006/main">
            <a:off x="723900" y="723900"/>
            <a:ext cx="10382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A9CFD5"/>
                </a:solidFill>
                <a:latin typeface="Arial"/>
                <a:ea typeface="Arial"/>
                <a:cs typeface="Arial"/>
              </a:defRPr>
            </a:pPr>
            <a:r>
              <a:rPr sz="1275" b="1">
                <a:solidFill>
                  <a:srgbClr val="A9CFD5"/>
                </a:solidFill>
                <a:latin typeface="Arial"/>
                <a:ea typeface="Arial"/>
                <a:cs typeface="Arial"/>
              </a:rPr>
              <a:t>PROBLEM STATEMENT 26249  ·  MINISTRY OF DEFENCE</a:t>
            </a:r>
          </a:p>
        </p:txBody>
      </p:sp>
      <p:sp>
        <p:nvSpPr>
          <p:cNvPr id="3" name="">
            <a:extLst xmlns:a="http://schemas.openxmlformats.org/drawingml/2006/main">
              <a:ext uri="{FF2B5EF4-FFF2-40B4-BE49-F238E27FC236}">
                <a16:creationId xmlns:a16="http://schemas.microsoft.com/office/drawing/2014/main" id="{24E4AADE-121B-4609-851B-CA742F4ED7E0}"/>
              </a:ext>
            </a:extLst>
          </p:cNvPr>
          <p:cNvSpPr>
            <a:spLocks xmlns:a="http://schemas.openxmlformats.org/drawingml/2006/main" noGrp="1"/>
          </p:cNvSpPr>
          <p:nvPr/>
        </p:nvSpPr>
        <p:spPr>
          <a:xfrm xmlns:a="http://schemas.openxmlformats.org/drawingml/2006/main">
            <a:off x="723900" y="1571625"/>
            <a:ext cx="9906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097"/>
          </a:bodyPr>
          <a:lstStyle xmlns:a="http://schemas.openxmlformats.org/drawingml/2006/main"/>
          <a:p xmlns:a="http://schemas.openxmlformats.org/drawingml/2006/main">
            <a:pPr algn="l">
              <a:defRPr sz="4050" b="1">
                <a:solidFill>
                  <a:srgbClr val="FFFFFF"/>
                </a:solidFill>
                <a:latin typeface="Arial"/>
                <a:ea typeface="Arial"/>
                <a:cs typeface="Arial"/>
              </a:defRPr>
            </a:pPr>
            <a:r>
              <a:rPr sz="4050" b="1">
                <a:solidFill>
                  <a:srgbClr val="FFFFFF"/>
                </a:solidFill>
                <a:latin typeface="Arial"/>
                <a:ea typeface="Arial"/>
                <a:cs typeface="Arial"/>
              </a:rPr>
              <a:t>Air Power</a:t>
            </a:r>
          </a:p>
          <a:p xmlns:a="http://schemas.openxmlformats.org/drawingml/2006/main">
            <a:pPr algn="l">
              <a:defRPr sz="4050" b="1">
                <a:solidFill>
                  <a:srgbClr val="FFFFFF"/>
                </a:solidFill>
                <a:latin typeface="Arial"/>
                <a:ea typeface="Arial"/>
                <a:cs typeface="Arial"/>
              </a:defRPr>
            </a:pPr>
            <a:r>
              <a:rPr sz="4050" b="1">
                <a:solidFill>
                  <a:srgbClr val="FFFFFF"/>
                </a:solidFill>
                <a:latin typeface="Arial"/>
                <a:ea typeface="Arial"/>
                <a:cs typeface="Arial"/>
              </a:rPr>
              <a:t>Predictive Maintenance &amp; Fleet Availability</a:t>
            </a:r>
          </a:p>
        </p:txBody>
      </p:sp>
      <p:sp>
        <p:nvSpPr>
          <p:cNvPr id="4" name="">
            <a:extLst xmlns:a="http://schemas.openxmlformats.org/drawingml/2006/main">
              <a:ext uri="{FF2B5EF4-FFF2-40B4-BE49-F238E27FC236}">
                <a16:creationId xmlns:a16="http://schemas.microsoft.com/office/drawing/2014/main" id="{0FDA03D2-5AB0-40EF-A684-329F4465CF2C}"/>
              </a:ext>
            </a:extLst>
          </p:cNvPr>
          <p:cNvSpPr>
            <a:spLocks xmlns:a="http://schemas.openxmlformats.org/drawingml/2006/main" noGrp="1"/>
          </p:cNvSpPr>
          <p:nvPr/>
        </p:nvSpPr>
        <p:spPr>
          <a:xfrm xmlns:a="http://schemas.openxmlformats.org/drawingml/2006/main">
            <a:off x="723900" y="3276600"/>
            <a:ext cx="1190625" cy="57150"/>
          </a:xfrm>
          <a:prstGeom xmlns:a="http://schemas.openxmlformats.org/drawingml/2006/main" prst="rect">
            <a:avLst/>
          </a:prstGeom>
          <a:solidFill xmlns:a="http://schemas.openxmlformats.org/drawingml/2006/main">
            <a:srgbClr val="C77B19"/>
          </a:solidFill>
          <a:ln xmlns:a="http://schemas.openxmlformats.org/drawingml/2006/main" w="0">
            <a:solidFill>
              <a:srgbClr val="C77B19"/>
            </a:solidFill>
            <a:prstDash val="solid"/>
          </a:ln>
        </p:spPr>
      </p:sp>
      <p:sp>
        <p:nvSpPr>
          <p:cNvPr id="5" name="">
            <a:extLst xmlns:a="http://schemas.openxmlformats.org/drawingml/2006/main">
              <a:ext uri="{FF2B5EF4-FFF2-40B4-BE49-F238E27FC236}">
                <a16:creationId xmlns:a16="http://schemas.microsoft.com/office/drawing/2014/main" id="{22217BBA-5B61-4BD8-B292-25A8EAF836D1}"/>
              </a:ext>
            </a:extLst>
          </p:cNvPr>
          <p:cNvSpPr>
            <a:spLocks xmlns:a="http://schemas.openxmlformats.org/drawingml/2006/main" noGrp="1"/>
          </p:cNvSpPr>
          <p:nvPr/>
        </p:nvSpPr>
        <p:spPr>
          <a:xfrm xmlns:a="http://schemas.openxmlformats.org/drawingml/2006/main">
            <a:off x="723900" y="3657600"/>
            <a:ext cx="8572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0">
                <a:solidFill>
                  <a:srgbClr val="D5E1E8"/>
                </a:solidFill>
                <a:latin typeface="Arial"/>
                <a:ea typeface="Arial"/>
                <a:cs typeface="Arial"/>
              </a:defRPr>
            </a:pPr>
            <a:r>
              <a:rPr sz="1950" b="0">
                <a:solidFill>
                  <a:srgbClr val="D5E1E8"/>
                </a:solidFill>
                <a:latin typeface="Arial"/>
                <a:ea typeface="Arial"/>
                <a:cs typeface="Arial"/>
              </a:rPr>
              <a:t>Technical approach for a real-data prototype and a secure defence pilot</a:t>
            </a:r>
          </a:p>
        </p:txBody>
      </p:sp>
      <p:sp>
        <p:nvSpPr>
          <p:cNvPr id="6" name="">
            <a:extLst xmlns:a="http://schemas.openxmlformats.org/drawingml/2006/main">
              <a:ext uri="{FF2B5EF4-FFF2-40B4-BE49-F238E27FC236}">
                <a16:creationId xmlns:a16="http://schemas.microsoft.com/office/drawing/2014/main" id="{6B67035E-C073-4F96-A38D-E83A457C590A}"/>
              </a:ext>
            </a:extLst>
          </p:cNvPr>
          <p:cNvSpPr>
            <a:spLocks xmlns:a="http://schemas.openxmlformats.org/drawingml/2006/main" noGrp="1"/>
          </p:cNvSpPr>
          <p:nvPr/>
        </p:nvSpPr>
        <p:spPr>
          <a:xfrm xmlns:a="http://schemas.openxmlformats.org/drawingml/2006/main">
            <a:off x="723900" y="5143500"/>
            <a:ext cx="9906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A9CFD5"/>
                </a:solidFill>
                <a:latin typeface="Arial"/>
                <a:ea typeface="Arial"/>
                <a:cs typeface="Arial"/>
              </a:defRPr>
            </a:pPr>
            <a:r>
              <a:rPr sz="1575" b="1">
                <a:solidFill>
                  <a:srgbClr val="A9CFD5"/>
                </a:solidFill>
                <a:latin typeface="Arial"/>
                <a:ea typeface="Arial"/>
                <a:cs typeface="Arial"/>
              </a:rPr>
              <a:t>Real public evidence now  →  authorized fleet integration when available</a:t>
            </a:r>
          </a:p>
        </p:txBody>
      </p:sp>
      <p:sp>
        <p:nvSpPr>
          <p:cNvPr id="7" name="">
            <a:extLst xmlns:a="http://schemas.openxmlformats.org/drawingml/2006/main">
              <a:ext uri="{FF2B5EF4-FFF2-40B4-BE49-F238E27FC236}">
                <a16:creationId xmlns:a16="http://schemas.microsoft.com/office/drawing/2014/main" id="{A8433006-D101-4EE7-A173-2FC43F4A523C}"/>
              </a:ext>
            </a:extLst>
          </p:cNvPr>
          <p:cNvSpPr>
            <a:spLocks xmlns:a="http://schemas.openxmlformats.org/drawingml/2006/main" noGrp="1"/>
          </p:cNvSpPr>
          <p:nvPr/>
        </p:nvSpPr>
        <p:spPr>
          <a:xfrm xmlns:a="http://schemas.openxmlformats.org/drawingml/2006/main">
            <a:off x="723900" y="64198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A9CFD5"/>
                </a:solidFill>
                <a:latin typeface="Arial"/>
                <a:ea typeface="Arial"/>
                <a:cs typeface="Arial"/>
              </a:defRPr>
            </a:pPr>
            <a:r>
              <a:rPr sz="975" b="1">
                <a:solidFill>
                  <a:srgbClr val="A9CFD5"/>
                </a:solidFill>
                <a:latin typeface="Arial"/>
                <a:ea typeface="Arial"/>
                <a:cs typeface="Arial"/>
              </a:rPr>
              <a:t>ARCHITECTURE  ·  DATA  ·  MODELS  ·  OPERATIONS</a:t>
            </a:r>
          </a:p>
        </p:txBody>
      </p:sp>
    </p:spTree>
    <p:extLst>
      <p:ext uri="{BB962C8B-B14F-4D97-AF65-F5344CB8AC3E}">
        <p14:creationId xmlns:p14="http://schemas.microsoft.com/office/powerpoint/2010/main" val="83546163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9A2BDBAA-282D-4549-A971-06A79FB4E7DA}"/>
              </a:ext>
            </a:extLst>
          </p:cNvPr>
          <p:cNvSpPr>
            <a:spLocks xmlns:a="http://schemas.openxmlformats.org/drawingml/2006/main" noGrp="1"/>
          </p:cNvSpPr>
          <p:nvPr/>
        </p:nvSpPr>
        <p:spPr>
          <a:xfrm xmlns:a="http://schemas.openxmlformats.org/drawingml/2006/main">
            <a:off x="514350" y="323850"/>
            <a:ext cx="10763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a:solidFill>
                  <a:srgbClr val="10263B"/>
                </a:solidFill>
                <a:latin typeface="Arial"/>
                <a:ea typeface="Arial"/>
                <a:cs typeface="Arial"/>
              </a:defRPr>
            </a:pPr>
            <a:r>
              <a:rPr sz="3150" b="1">
                <a:solidFill>
                  <a:srgbClr val="10263B"/>
                </a:solidFill>
                <a:latin typeface="Arial"/>
                <a:ea typeface="Arial"/>
                <a:cs typeface="Arial"/>
              </a:rPr>
              <a:t>Target system architecture</a:t>
            </a:r>
          </a:p>
        </p:txBody>
      </p:sp>
      <p:sp>
        <p:nvSpPr>
          <p:cNvPr id="2" name="">
            <a:extLst xmlns:a="http://schemas.openxmlformats.org/drawingml/2006/main">
              <a:ext uri="{FF2B5EF4-FFF2-40B4-BE49-F238E27FC236}">
                <a16:creationId xmlns:a16="http://schemas.microsoft.com/office/drawing/2014/main" id="{BB1F8B52-78A2-4A66-B431-31C62D1FF697}"/>
              </a:ext>
            </a:extLst>
          </p:cNvPr>
          <p:cNvSpPr>
            <a:spLocks xmlns:a="http://schemas.openxmlformats.org/drawingml/2006/main" noGrp="1"/>
          </p:cNvSpPr>
          <p:nvPr/>
        </p:nvSpPr>
        <p:spPr>
          <a:xfrm xmlns:a="http://schemas.openxmlformats.org/drawingml/2006/main">
            <a:off x="533400" y="8763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5E7282"/>
                </a:solidFill>
                <a:latin typeface="Arial"/>
                <a:ea typeface="Arial"/>
                <a:cs typeface="Arial"/>
              </a:defRPr>
            </a:pPr>
            <a:r>
              <a:rPr sz="1575" b="0">
                <a:solidFill>
                  <a:srgbClr val="5E7282"/>
                </a:solidFill>
                <a:latin typeface="Arial"/>
                <a:ea typeface="Arial"/>
                <a:cs typeface="Arial"/>
              </a:rPr>
              <a:t>One governed asset picture connects aircraft health to maintenance and supply decisions</a:t>
            </a:r>
          </a:p>
        </p:txBody>
      </p:sp>
      <p:sp>
        <p:nvSpPr>
          <p:cNvPr id="3" name="">
            <a:extLst xmlns:a="http://schemas.openxmlformats.org/drawingml/2006/main">
              <a:ext uri="{FF2B5EF4-FFF2-40B4-BE49-F238E27FC236}">
                <a16:creationId xmlns:a16="http://schemas.microsoft.com/office/drawing/2014/main" id="{E528C736-76A9-4DEB-8F23-115001CE357B}"/>
              </a:ext>
            </a:extLst>
          </p:cNvPr>
          <p:cNvSpPr>
            <a:spLocks xmlns:a="http://schemas.openxmlformats.org/drawingml/2006/main" noGrp="1"/>
          </p:cNvSpPr>
          <p:nvPr/>
        </p:nvSpPr>
        <p:spPr>
          <a:xfrm xmlns:a="http://schemas.openxmlformats.org/drawingml/2006/main">
            <a:off x="514350" y="6334125"/>
            <a:ext cx="11163300" cy="0"/>
          </a:xfrm>
          <a:prstGeom xmlns:a="http://schemas.openxmlformats.org/drawingml/2006/main" prst="line">
            <a:avLst/>
          </a:prstGeom>
          <a:noFill xmlns:a="http://schemas.openxmlformats.org/drawingml/2006/main"/>
          <a:ln xmlns:a="http://schemas.openxmlformats.org/drawingml/2006/main" w="9525">
            <a:solidFill>
              <a:srgbClr val="D8E1E7"/>
            </a:solidFill>
            <a:prstDash val="solid"/>
          </a:ln>
        </p:spPr>
      </p:sp>
      <p:sp>
        <p:nvSpPr>
          <p:cNvPr id="4" name="">
            <a:extLst xmlns:a="http://schemas.openxmlformats.org/drawingml/2006/main">
              <a:ext uri="{FF2B5EF4-FFF2-40B4-BE49-F238E27FC236}">
                <a16:creationId xmlns:a16="http://schemas.microsoft.com/office/drawing/2014/main" id="{4C3E9606-9436-4203-8797-7C7C050C2861}"/>
              </a:ext>
            </a:extLst>
          </p:cNvPr>
          <p:cNvSpPr>
            <a:spLocks xmlns:a="http://schemas.openxmlformats.org/drawingml/2006/main" noGrp="1"/>
          </p:cNvSpPr>
          <p:nvPr/>
        </p:nvSpPr>
        <p:spPr>
          <a:xfrm xmlns:a="http://schemas.openxmlformats.org/drawingml/2006/main">
            <a:off x="514350" y="6448425"/>
            <a:ext cx="7429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5E7282"/>
                </a:solidFill>
                <a:latin typeface="Arial"/>
                <a:ea typeface="Arial"/>
                <a:cs typeface="Arial"/>
              </a:defRPr>
            </a:pPr>
            <a:r>
              <a:rPr sz="900" b="1">
                <a:solidFill>
                  <a:srgbClr val="5E7282"/>
                </a:solidFill>
                <a:latin typeface="Arial"/>
                <a:ea typeface="Arial"/>
                <a:cs typeface="Arial"/>
              </a:rPr>
              <a:t>AIR POWER  /  PREDICTIVE MAINTENANCE TECHNICAL APPROACH</a:t>
            </a:r>
          </a:p>
        </p:txBody>
      </p:sp>
      <p:sp>
        <p:nvSpPr>
          <p:cNvPr id="5" name="">
            <a:extLst xmlns:a="http://schemas.openxmlformats.org/drawingml/2006/main">
              <a:ext uri="{FF2B5EF4-FFF2-40B4-BE49-F238E27FC236}">
                <a16:creationId xmlns:a16="http://schemas.microsoft.com/office/drawing/2014/main" id="{FEC6EE7E-2A9A-4691-B2AD-25FBA627C48B}"/>
              </a:ext>
            </a:extLst>
          </p:cNvPr>
          <p:cNvSpPr>
            <a:spLocks xmlns:a="http://schemas.openxmlformats.org/drawingml/2006/main" noGrp="1"/>
          </p:cNvSpPr>
          <p:nvPr/>
        </p:nvSpPr>
        <p:spPr>
          <a:xfrm xmlns:a="http://schemas.openxmlformats.org/drawingml/2006/main">
            <a:off x="11277600" y="641985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5E7282"/>
                </a:solidFill>
                <a:latin typeface="Arial"/>
                <a:ea typeface="Arial"/>
                <a:cs typeface="Arial"/>
              </a:defRPr>
            </a:pPr>
            <a:r>
              <a:rPr sz="1050" b="1">
                <a:solidFill>
                  <a:srgbClr val="5E7282"/>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A6E79AFD-A9AE-477E-8054-8998D2BAB6FA}"/>
              </a:ext>
            </a:extLst>
          </p:cNvPr>
          <p:cNvSpPr>
            <a:spLocks xmlns:a="http://schemas.openxmlformats.org/drawingml/2006/main" noGrp="1"/>
          </p:cNvSpPr>
          <p:nvPr/>
        </p:nvSpPr>
        <p:spPr>
          <a:xfrm xmlns:a="http://schemas.openxmlformats.org/drawingml/2006/main">
            <a:off x="476250" y="2076450"/>
            <a:ext cx="1952625" cy="2095500"/>
          </a:xfrm>
          <a:prstGeom xmlns:a="http://schemas.openxmlformats.org/drawingml/2006/main" prst="roundRect">
            <a:avLst>
              <a:gd name="adj" fmla="val 5854"/>
            </a:avLst>
          </a:prstGeom>
          <a:solidFill xmlns:a="http://schemas.openxmlformats.org/drawingml/2006/main">
            <a:srgbClr val="F2F6F8"/>
          </a:solidFill>
          <a:ln xmlns:a="http://schemas.openxmlformats.org/drawingml/2006/main" w="9525">
            <a:solidFill>
              <a:srgbClr val="D8E1E7"/>
            </a:solidFill>
            <a:prstDash val="solid"/>
          </a:ln>
        </p:spPr>
      </p:sp>
      <p:sp>
        <p:nvSpPr>
          <p:cNvPr id="7" name="">
            <a:extLst xmlns:a="http://schemas.openxmlformats.org/drawingml/2006/main">
              <a:ext uri="{FF2B5EF4-FFF2-40B4-BE49-F238E27FC236}">
                <a16:creationId xmlns:a16="http://schemas.microsoft.com/office/drawing/2014/main" id="{B19DB425-00BA-4D32-AED5-2F1770F992D9}"/>
              </a:ext>
            </a:extLst>
          </p:cNvPr>
          <p:cNvSpPr>
            <a:spLocks xmlns:a="http://schemas.openxmlformats.org/drawingml/2006/main" noGrp="1"/>
          </p:cNvSpPr>
          <p:nvPr/>
        </p:nvSpPr>
        <p:spPr>
          <a:xfrm xmlns:a="http://schemas.openxmlformats.org/drawingml/2006/main">
            <a:off x="619125" y="2238375"/>
            <a:ext cx="1666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087E80"/>
                </a:solidFill>
                <a:latin typeface="Arial"/>
                <a:ea typeface="Arial"/>
                <a:cs typeface="Arial"/>
              </a:defRPr>
            </a:pPr>
            <a:r>
              <a:rPr sz="1200" b="1">
                <a:solidFill>
                  <a:srgbClr val="087E80"/>
                </a:solidFill>
                <a:latin typeface="Arial"/>
                <a:ea typeface="Arial"/>
                <a:cs typeface="Arial"/>
              </a:rPr>
              <a:t>1  SOURCE SYSTEMS</a:t>
            </a:r>
          </a:p>
        </p:txBody>
      </p:sp>
      <p:sp>
        <p:nvSpPr>
          <p:cNvPr id="8" name="">
            <a:extLst xmlns:a="http://schemas.openxmlformats.org/drawingml/2006/main">
              <a:ext uri="{FF2B5EF4-FFF2-40B4-BE49-F238E27FC236}">
                <a16:creationId xmlns:a16="http://schemas.microsoft.com/office/drawing/2014/main" id="{5215904D-6428-48DC-B3EC-14277610C252}"/>
              </a:ext>
            </a:extLst>
          </p:cNvPr>
          <p:cNvSpPr>
            <a:spLocks xmlns:a="http://schemas.openxmlformats.org/drawingml/2006/main" noGrp="1"/>
          </p:cNvSpPr>
          <p:nvPr/>
        </p:nvSpPr>
        <p:spPr>
          <a:xfrm xmlns:a="http://schemas.openxmlformats.org/drawingml/2006/main">
            <a:off x="619125" y="2676525"/>
            <a:ext cx="1666875" cy="1362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172B3C"/>
                </a:solidFill>
                <a:latin typeface="Arial"/>
                <a:ea typeface="Arial"/>
                <a:cs typeface="Arial"/>
              </a:defRPr>
            </a:pPr>
            <a:r>
              <a:rPr sz="1425" b="0">
                <a:solidFill>
                  <a:srgbClr val="172B3C"/>
                </a:solidFill>
                <a:latin typeface="Arial"/>
                <a:ea typeface="Arial"/>
                <a:cs typeface="Arial"/>
              </a:rPr>
              <a:t>Aircraft health</a:t>
            </a:r>
          </a:p>
          <a:p xmlns:a="http://schemas.openxmlformats.org/drawingml/2006/main">
            <a:pPr algn="l">
              <a:defRPr sz="1425" b="0">
                <a:solidFill>
                  <a:srgbClr val="172B3C"/>
                </a:solidFill>
                <a:latin typeface="Arial"/>
                <a:ea typeface="Arial"/>
                <a:cs typeface="Arial"/>
              </a:defRPr>
            </a:pPr>
            <a:r>
              <a:rPr sz="1425" b="0">
                <a:solidFill>
                  <a:srgbClr val="172B3C"/>
                </a:solidFill>
                <a:latin typeface="Arial"/>
                <a:ea typeface="Arial"/>
                <a:cs typeface="Arial"/>
              </a:rPr>
              <a:t>Sortie hours / cycles</a:t>
            </a:r>
          </a:p>
          <a:p xmlns:a="http://schemas.openxmlformats.org/drawingml/2006/main">
            <a:pPr algn="l">
              <a:defRPr sz="1425" b="0">
                <a:solidFill>
                  <a:srgbClr val="172B3C"/>
                </a:solidFill>
                <a:latin typeface="Arial"/>
                <a:ea typeface="Arial"/>
                <a:cs typeface="Arial"/>
              </a:defRPr>
            </a:pPr>
            <a:r>
              <a:rPr sz="1425" b="0">
                <a:solidFill>
                  <a:srgbClr val="172B3C"/>
                </a:solidFill>
                <a:latin typeface="Arial"/>
                <a:ea typeface="Arial"/>
                <a:cs typeface="Arial"/>
              </a:rPr>
              <a:t>Technical logs</a:t>
            </a:r>
          </a:p>
          <a:p xmlns:a="http://schemas.openxmlformats.org/drawingml/2006/main">
            <a:pPr algn="l">
              <a:defRPr sz="1425" b="0">
                <a:solidFill>
                  <a:srgbClr val="172B3C"/>
                </a:solidFill>
                <a:latin typeface="Arial"/>
                <a:ea typeface="Arial"/>
                <a:cs typeface="Arial"/>
              </a:defRPr>
            </a:pPr>
            <a:r>
              <a:rPr sz="1425" b="0">
                <a:solidFill>
                  <a:srgbClr val="172B3C"/>
                </a:solidFill>
                <a:latin typeface="Arial"/>
                <a:ea typeface="Arial"/>
                <a:cs typeface="Arial"/>
              </a:rPr>
              <a:t>Parts &amp; work orders</a:t>
            </a:r>
          </a:p>
        </p:txBody>
      </p:sp>
      <p:sp>
        <p:nvSpPr>
          <p:cNvPr id="9" name="">
            <a:extLst xmlns:a="http://schemas.openxmlformats.org/drawingml/2006/main">
              <a:ext uri="{FF2B5EF4-FFF2-40B4-BE49-F238E27FC236}">
                <a16:creationId xmlns:a16="http://schemas.microsoft.com/office/drawing/2014/main" id="{95AB9724-4BF3-4DB3-A202-8634C98D87C0}"/>
              </a:ext>
            </a:extLst>
          </p:cNvPr>
          <p:cNvSpPr>
            <a:spLocks xmlns:a="http://schemas.openxmlformats.org/drawingml/2006/main" noGrp="1"/>
          </p:cNvSpPr>
          <p:nvPr/>
        </p:nvSpPr>
        <p:spPr>
          <a:xfrm xmlns:a="http://schemas.openxmlformats.org/drawingml/2006/main">
            <a:off x="2790825" y="2076450"/>
            <a:ext cx="1952625" cy="2095500"/>
          </a:xfrm>
          <a:prstGeom xmlns:a="http://schemas.openxmlformats.org/drawingml/2006/main" prst="roundRect">
            <a:avLst>
              <a:gd name="adj" fmla="val 5854"/>
            </a:avLst>
          </a:prstGeom>
          <a:solidFill xmlns:a="http://schemas.openxmlformats.org/drawingml/2006/main">
            <a:srgbClr val="E7F2F4"/>
          </a:solidFill>
          <a:ln xmlns:a="http://schemas.openxmlformats.org/drawingml/2006/main" w="9525">
            <a:solidFill>
              <a:srgbClr val="D8E1E7"/>
            </a:solidFill>
            <a:prstDash val="solid"/>
          </a:ln>
        </p:spPr>
      </p:sp>
      <p:sp>
        <p:nvSpPr>
          <p:cNvPr id="10" name="">
            <a:extLst xmlns:a="http://schemas.openxmlformats.org/drawingml/2006/main">
              <a:ext uri="{FF2B5EF4-FFF2-40B4-BE49-F238E27FC236}">
                <a16:creationId xmlns:a16="http://schemas.microsoft.com/office/drawing/2014/main" id="{83A5E85A-6A85-46B7-8FD2-F6EA90E78891}"/>
              </a:ext>
            </a:extLst>
          </p:cNvPr>
          <p:cNvSpPr>
            <a:spLocks xmlns:a="http://schemas.openxmlformats.org/drawingml/2006/main" noGrp="1"/>
          </p:cNvSpPr>
          <p:nvPr/>
        </p:nvSpPr>
        <p:spPr>
          <a:xfrm xmlns:a="http://schemas.openxmlformats.org/drawingml/2006/main">
            <a:off x="2933700" y="2238375"/>
            <a:ext cx="1666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087E80"/>
                </a:solidFill>
                <a:latin typeface="Arial"/>
                <a:ea typeface="Arial"/>
                <a:cs typeface="Arial"/>
              </a:defRPr>
            </a:pPr>
            <a:r>
              <a:rPr sz="1200" b="1">
                <a:solidFill>
                  <a:srgbClr val="087E80"/>
                </a:solidFill>
                <a:latin typeface="Arial"/>
                <a:ea typeface="Arial"/>
                <a:cs typeface="Arial"/>
              </a:rPr>
              <a:t>2  SECURE INGEST</a:t>
            </a:r>
          </a:p>
        </p:txBody>
      </p:sp>
      <p:sp>
        <p:nvSpPr>
          <p:cNvPr id="11" name="">
            <a:extLst xmlns:a="http://schemas.openxmlformats.org/drawingml/2006/main">
              <a:ext uri="{FF2B5EF4-FFF2-40B4-BE49-F238E27FC236}">
                <a16:creationId xmlns:a16="http://schemas.microsoft.com/office/drawing/2014/main" id="{1B727E20-2821-48B7-A7B0-47BF4BFC0192}"/>
              </a:ext>
            </a:extLst>
          </p:cNvPr>
          <p:cNvSpPr>
            <a:spLocks xmlns:a="http://schemas.openxmlformats.org/drawingml/2006/main" noGrp="1"/>
          </p:cNvSpPr>
          <p:nvPr/>
        </p:nvSpPr>
        <p:spPr>
          <a:xfrm xmlns:a="http://schemas.openxmlformats.org/drawingml/2006/main">
            <a:off x="2933700" y="2676525"/>
            <a:ext cx="1666875" cy="1362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855"/>
          </a:bodyPr>
          <a:lstStyle xmlns:a="http://schemas.openxmlformats.org/drawingml/2006/main"/>
          <a:p xmlns:a="http://schemas.openxmlformats.org/drawingml/2006/main">
            <a:pPr algn="l">
              <a:defRPr sz="1425" b="0">
                <a:solidFill>
                  <a:srgbClr val="172B3C"/>
                </a:solidFill>
                <a:latin typeface="Arial"/>
                <a:ea typeface="Arial"/>
                <a:cs typeface="Arial"/>
              </a:defRPr>
            </a:pPr>
            <a:r>
              <a:rPr sz="1425" b="0">
                <a:solidFill>
                  <a:srgbClr val="172B3C"/>
                </a:solidFill>
                <a:latin typeface="Arial"/>
                <a:ea typeface="Arial"/>
                <a:cs typeface="Arial"/>
              </a:rPr>
              <a:t>Read-only connectors</a:t>
            </a:r>
          </a:p>
          <a:p xmlns:a="http://schemas.openxmlformats.org/drawingml/2006/main">
            <a:pPr algn="l">
              <a:defRPr sz="1425" b="0">
                <a:solidFill>
                  <a:srgbClr val="172B3C"/>
                </a:solidFill>
                <a:latin typeface="Arial"/>
                <a:ea typeface="Arial"/>
                <a:cs typeface="Arial"/>
              </a:defRPr>
            </a:pPr>
            <a:r>
              <a:rPr sz="1425" b="0">
                <a:solidFill>
                  <a:srgbClr val="172B3C"/>
                </a:solidFill>
                <a:latin typeface="Arial"/>
                <a:ea typeface="Arial"/>
                <a:cs typeface="Arial"/>
              </a:rPr>
              <a:t>Batch / approved stream</a:t>
            </a:r>
          </a:p>
          <a:p xmlns:a="http://schemas.openxmlformats.org/drawingml/2006/main">
            <a:pPr algn="l">
              <a:defRPr sz="1425" b="0">
                <a:solidFill>
                  <a:srgbClr val="172B3C"/>
                </a:solidFill>
                <a:latin typeface="Arial"/>
                <a:ea typeface="Arial"/>
                <a:cs typeface="Arial"/>
              </a:defRPr>
            </a:pPr>
            <a:r>
              <a:rPr sz="1425" b="0">
                <a:solidFill>
                  <a:srgbClr val="172B3C"/>
                </a:solidFill>
                <a:latin typeface="Arial"/>
                <a:ea typeface="Arial"/>
                <a:cs typeface="Arial"/>
              </a:rPr>
              <a:t>Schema + unit checks</a:t>
            </a:r>
          </a:p>
          <a:p xmlns:a="http://schemas.openxmlformats.org/drawingml/2006/main">
            <a:pPr algn="l">
              <a:defRPr sz="1425" b="0">
                <a:solidFill>
                  <a:srgbClr val="172B3C"/>
                </a:solidFill>
                <a:latin typeface="Arial"/>
                <a:ea typeface="Arial"/>
                <a:cs typeface="Arial"/>
              </a:defRPr>
            </a:pPr>
            <a:r>
              <a:rPr sz="1425" b="0">
                <a:solidFill>
                  <a:srgbClr val="172B3C"/>
                </a:solidFill>
                <a:latin typeface="Arial"/>
                <a:ea typeface="Arial"/>
                <a:cs typeface="Arial"/>
              </a:rPr>
              <a:t>Time &amp; asset matching</a:t>
            </a:r>
          </a:p>
        </p:txBody>
      </p:sp>
      <p:sp>
        <p:nvSpPr>
          <p:cNvPr id="12" name="">
            <a:extLst xmlns:a="http://schemas.openxmlformats.org/drawingml/2006/main">
              <a:ext uri="{FF2B5EF4-FFF2-40B4-BE49-F238E27FC236}">
                <a16:creationId xmlns:a16="http://schemas.microsoft.com/office/drawing/2014/main" id="{F7655D19-5D12-4F08-88EF-FDD9DFC20527}"/>
              </a:ext>
            </a:extLst>
          </p:cNvPr>
          <p:cNvSpPr>
            <a:spLocks xmlns:a="http://schemas.openxmlformats.org/drawingml/2006/main" noGrp="1"/>
          </p:cNvSpPr>
          <p:nvPr/>
        </p:nvSpPr>
        <p:spPr>
          <a:xfrm xmlns:a="http://schemas.openxmlformats.org/drawingml/2006/main">
            <a:off x="5105400" y="2076450"/>
            <a:ext cx="1952625" cy="2095500"/>
          </a:xfrm>
          <a:prstGeom xmlns:a="http://schemas.openxmlformats.org/drawingml/2006/main" prst="roundRect">
            <a:avLst>
              <a:gd name="adj" fmla="val 5854"/>
            </a:avLst>
          </a:prstGeom>
          <a:solidFill xmlns:a="http://schemas.openxmlformats.org/drawingml/2006/main">
            <a:srgbClr val="F2F6F8"/>
          </a:solidFill>
          <a:ln xmlns:a="http://schemas.openxmlformats.org/drawingml/2006/main" w="9525">
            <a:solidFill>
              <a:srgbClr val="D8E1E7"/>
            </a:solidFill>
            <a:prstDash val="solid"/>
          </a:ln>
        </p:spPr>
      </p:sp>
      <p:sp>
        <p:nvSpPr>
          <p:cNvPr id="13" name="">
            <a:extLst xmlns:a="http://schemas.openxmlformats.org/drawingml/2006/main">
              <a:ext uri="{FF2B5EF4-FFF2-40B4-BE49-F238E27FC236}">
                <a16:creationId xmlns:a16="http://schemas.microsoft.com/office/drawing/2014/main" id="{40DFA906-7EAE-478A-88D5-41B88E5250E9}"/>
              </a:ext>
            </a:extLst>
          </p:cNvPr>
          <p:cNvSpPr>
            <a:spLocks xmlns:a="http://schemas.openxmlformats.org/drawingml/2006/main" noGrp="1"/>
          </p:cNvSpPr>
          <p:nvPr/>
        </p:nvSpPr>
        <p:spPr>
          <a:xfrm xmlns:a="http://schemas.openxmlformats.org/drawingml/2006/main">
            <a:off x="5248275" y="2238375"/>
            <a:ext cx="1666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087E80"/>
                </a:solidFill>
                <a:latin typeface="Arial"/>
                <a:ea typeface="Arial"/>
                <a:cs typeface="Arial"/>
              </a:defRPr>
            </a:pPr>
            <a:r>
              <a:rPr sz="1200" b="1">
                <a:solidFill>
                  <a:srgbClr val="087E80"/>
                </a:solidFill>
                <a:latin typeface="Arial"/>
                <a:ea typeface="Arial"/>
                <a:cs typeface="Arial"/>
              </a:rPr>
              <a:t>3  DATA FOUNDATION</a:t>
            </a:r>
          </a:p>
        </p:txBody>
      </p:sp>
      <p:sp>
        <p:nvSpPr>
          <p:cNvPr id="14" name="">
            <a:extLst xmlns:a="http://schemas.openxmlformats.org/drawingml/2006/main">
              <a:ext uri="{FF2B5EF4-FFF2-40B4-BE49-F238E27FC236}">
                <a16:creationId xmlns:a16="http://schemas.microsoft.com/office/drawing/2014/main" id="{4E23B48A-1751-4AF6-915A-F177B99744A8}"/>
              </a:ext>
            </a:extLst>
          </p:cNvPr>
          <p:cNvSpPr>
            <a:spLocks xmlns:a="http://schemas.openxmlformats.org/drawingml/2006/main" noGrp="1"/>
          </p:cNvSpPr>
          <p:nvPr/>
        </p:nvSpPr>
        <p:spPr>
          <a:xfrm xmlns:a="http://schemas.openxmlformats.org/drawingml/2006/main">
            <a:off x="5248275" y="2676525"/>
            <a:ext cx="1666875" cy="1362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9599"/>
          </a:bodyPr>
          <a:lstStyle xmlns:a="http://schemas.openxmlformats.org/drawingml/2006/main"/>
          <a:p xmlns:a="http://schemas.openxmlformats.org/drawingml/2006/main">
            <a:pPr algn="l">
              <a:defRPr sz="1425" b="0">
                <a:solidFill>
                  <a:srgbClr val="172B3C"/>
                </a:solidFill>
                <a:latin typeface="Arial"/>
                <a:ea typeface="Arial"/>
                <a:cs typeface="Arial"/>
              </a:defRPr>
            </a:pPr>
            <a:r>
              <a:rPr sz="1425" b="0">
                <a:solidFill>
                  <a:srgbClr val="172B3C"/>
                </a:solidFill>
                <a:latin typeface="Arial"/>
                <a:ea typeface="Arial"/>
                <a:cs typeface="Arial"/>
              </a:rPr>
              <a:t>Raw evidence store</a:t>
            </a:r>
          </a:p>
          <a:p xmlns:a="http://schemas.openxmlformats.org/drawingml/2006/main">
            <a:pPr algn="l">
              <a:defRPr sz="1425" b="0">
                <a:solidFill>
                  <a:srgbClr val="172B3C"/>
                </a:solidFill>
                <a:latin typeface="Arial"/>
                <a:ea typeface="Arial"/>
                <a:cs typeface="Arial"/>
              </a:defRPr>
            </a:pPr>
            <a:r>
              <a:rPr sz="1425" b="0">
                <a:solidFill>
                  <a:srgbClr val="172B3C"/>
                </a:solidFill>
                <a:latin typeface="Arial"/>
                <a:ea typeface="Arial"/>
                <a:cs typeface="Arial"/>
              </a:rPr>
              <a:t>Validated operational data</a:t>
            </a:r>
          </a:p>
          <a:p xmlns:a="http://schemas.openxmlformats.org/drawingml/2006/main">
            <a:pPr algn="l">
              <a:defRPr sz="1425" b="0">
                <a:solidFill>
                  <a:srgbClr val="172B3C"/>
                </a:solidFill>
                <a:latin typeface="Arial"/>
                <a:ea typeface="Arial"/>
                <a:cs typeface="Arial"/>
              </a:defRPr>
            </a:pPr>
            <a:r>
              <a:rPr sz="1425" b="0">
                <a:solidFill>
                  <a:srgbClr val="172B3C"/>
                </a:solidFill>
                <a:latin typeface="Arial"/>
                <a:ea typeface="Arial"/>
                <a:cs typeface="Arial"/>
              </a:rPr>
              <a:t>Aircraft → component graph</a:t>
            </a:r>
          </a:p>
          <a:p xmlns:a="http://schemas.openxmlformats.org/drawingml/2006/main">
            <a:pPr algn="l">
              <a:defRPr sz="1425" b="0">
                <a:solidFill>
                  <a:srgbClr val="172B3C"/>
                </a:solidFill>
                <a:latin typeface="Arial"/>
                <a:ea typeface="Arial"/>
                <a:cs typeface="Arial"/>
              </a:defRPr>
            </a:pPr>
            <a:r>
              <a:rPr sz="1425" b="0">
                <a:solidFill>
                  <a:srgbClr val="172B3C"/>
                </a:solidFill>
                <a:latin typeface="Arial"/>
                <a:ea typeface="Arial"/>
                <a:cs typeface="Arial"/>
              </a:rPr>
              <a:t>Versioned feature history</a:t>
            </a:r>
          </a:p>
        </p:txBody>
      </p:sp>
      <p:sp>
        <p:nvSpPr>
          <p:cNvPr id="15" name="">
            <a:extLst xmlns:a="http://schemas.openxmlformats.org/drawingml/2006/main">
              <a:ext uri="{FF2B5EF4-FFF2-40B4-BE49-F238E27FC236}">
                <a16:creationId xmlns:a16="http://schemas.microsoft.com/office/drawing/2014/main" id="{A3AC70E4-8A16-4B07-92F9-607CEC457887}"/>
              </a:ext>
            </a:extLst>
          </p:cNvPr>
          <p:cNvSpPr>
            <a:spLocks xmlns:a="http://schemas.openxmlformats.org/drawingml/2006/main" noGrp="1"/>
          </p:cNvSpPr>
          <p:nvPr/>
        </p:nvSpPr>
        <p:spPr>
          <a:xfrm xmlns:a="http://schemas.openxmlformats.org/drawingml/2006/main">
            <a:off x="7419975" y="2076450"/>
            <a:ext cx="1952625" cy="2095500"/>
          </a:xfrm>
          <a:prstGeom xmlns:a="http://schemas.openxmlformats.org/drawingml/2006/main" prst="roundRect">
            <a:avLst>
              <a:gd name="adj" fmla="val 5854"/>
            </a:avLst>
          </a:prstGeom>
          <a:solidFill xmlns:a="http://schemas.openxmlformats.org/drawingml/2006/main">
            <a:srgbClr val="EAF4F0"/>
          </a:solidFill>
          <a:ln xmlns:a="http://schemas.openxmlformats.org/drawingml/2006/main" w="9525">
            <a:solidFill>
              <a:srgbClr val="D8E1E7"/>
            </a:solidFill>
            <a:prstDash val="solid"/>
          </a:ln>
        </p:spPr>
      </p:sp>
      <p:sp>
        <p:nvSpPr>
          <p:cNvPr id="16" name="">
            <a:extLst xmlns:a="http://schemas.openxmlformats.org/drawingml/2006/main">
              <a:ext uri="{FF2B5EF4-FFF2-40B4-BE49-F238E27FC236}">
                <a16:creationId xmlns:a16="http://schemas.microsoft.com/office/drawing/2014/main" id="{02F58002-D281-42FA-887F-48DBF631C766}"/>
              </a:ext>
            </a:extLst>
          </p:cNvPr>
          <p:cNvSpPr>
            <a:spLocks xmlns:a="http://schemas.openxmlformats.org/drawingml/2006/main" noGrp="1"/>
          </p:cNvSpPr>
          <p:nvPr/>
        </p:nvSpPr>
        <p:spPr>
          <a:xfrm xmlns:a="http://schemas.openxmlformats.org/drawingml/2006/main">
            <a:off x="7562850" y="2238375"/>
            <a:ext cx="1666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087E80"/>
                </a:solidFill>
                <a:latin typeface="Arial"/>
                <a:ea typeface="Arial"/>
                <a:cs typeface="Arial"/>
              </a:defRPr>
            </a:pPr>
            <a:r>
              <a:rPr sz="1200" b="1">
                <a:solidFill>
                  <a:srgbClr val="087E80"/>
                </a:solidFill>
                <a:latin typeface="Arial"/>
                <a:ea typeface="Arial"/>
                <a:cs typeface="Arial"/>
              </a:rPr>
              <a:t>4  ANALYTICS</a:t>
            </a:r>
          </a:p>
        </p:txBody>
      </p:sp>
      <p:sp>
        <p:nvSpPr>
          <p:cNvPr id="17" name="">
            <a:extLst xmlns:a="http://schemas.openxmlformats.org/drawingml/2006/main">
              <a:ext uri="{FF2B5EF4-FFF2-40B4-BE49-F238E27FC236}">
                <a16:creationId xmlns:a16="http://schemas.microsoft.com/office/drawing/2014/main" id="{D4254718-3353-4E38-BCAF-F37C10AB3E4C}"/>
              </a:ext>
            </a:extLst>
          </p:cNvPr>
          <p:cNvSpPr>
            <a:spLocks xmlns:a="http://schemas.openxmlformats.org/drawingml/2006/main" noGrp="1"/>
          </p:cNvSpPr>
          <p:nvPr/>
        </p:nvSpPr>
        <p:spPr>
          <a:xfrm xmlns:a="http://schemas.openxmlformats.org/drawingml/2006/main">
            <a:off x="7562850" y="2676525"/>
            <a:ext cx="1666875" cy="1362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172B3C"/>
                </a:solidFill>
                <a:latin typeface="Arial"/>
                <a:ea typeface="Arial"/>
                <a:cs typeface="Arial"/>
              </a:defRPr>
            </a:pPr>
            <a:r>
              <a:rPr sz="1425" b="0">
                <a:solidFill>
                  <a:srgbClr val="172B3C"/>
                </a:solidFill>
                <a:latin typeface="Arial"/>
                <a:ea typeface="Arial"/>
                <a:cs typeface="Arial"/>
              </a:rPr>
              <a:t>Health anomaly scores</a:t>
            </a:r>
          </a:p>
          <a:p xmlns:a="http://schemas.openxmlformats.org/drawingml/2006/main">
            <a:pPr algn="l">
              <a:defRPr sz="1425" b="0">
                <a:solidFill>
                  <a:srgbClr val="172B3C"/>
                </a:solidFill>
                <a:latin typeface="Arial"/>
                <a:ea typeface="Arial"/>
                <a:cs typeface="Arial"/>
              </a:defRPr>
            </a:pPr>
            <a:r>
              <a:rPr sz="1425" b="0">
                <a:solidFill>
                  <a:srgbClr val="172B3C"/>
                </a:solidFill>
                <a:latin typeface="Arial"/>
                <a:ea typeface="Arial"/>
                <a:cs typeface="Arial"/>
              </a:rPr>
              <a:t>Failure risk / RUL</a:t>
            </a:r>
          </a:p>
          <a:p xmlns:a="http://schemas.openxmlformats.org/drawingml/2006/main">
            <a:pPr algn="l">
              <a:defRPr sz="1425" b="0">
                <a:solidFill>
                  <a:srgbClr val="172B3C"/>
                </a:solidFill>
                <a:latin typeface="Arial"/>
                <a:ea typeface="Arial"/>
                <a:cs typeface="Arial"/>
              </a:defRPr>
            </a:pPr>
            <a:r>
              <a:rPr sz="1425" b="0">
                <a:solidFill>
                  <a:srgbClr val="172B3C"/>
                </a:solidFill>
                <a:latin typeface="Arial"/>
                <a:ea typeface="Arial"/>
                <a:cs typeface="Arial"/>
              </a:rPr>
              <a:t>Availability forecast</a:t>
            </a:r>
          </a:p>
          <a:p xmlns:a="http://schemas.openxmlformats.org/drawingml/2006/main">
            <a:pPr algn="l">
              <a:defRPr sz="1425" b="0">
                <a:solidFill>
                  <a:srgbClr val="172B3C"/>
                </a:solidFill>
                <a:latin typeface="Arial"/>
                <a:ea typeface="Arial"/>
                <a:cs typeface="Arial"/>
              </a:defRPr>
            </a:pPr>
            <a:r>
              <a:rPr sz="1425" b="0">
                <a:solidFill>
                  <a:srgbClr val="172B3C"/>
                </a:solidFill>
                <a:latin typeface="Arial"/>
                <a:ea typeface="Arial"/>
                <a:cs typeface="Arial"/>
              </a:rPr>
              <a:t>Parts demand signals</a:t>
            </a:r>
          </a:p>
        </p:txBody>
      </p:sp>
      <p:sp>
        <p:nvSpPr>
          <p:cNvPr id="18" name="">
            <a:extLst xmlns:a="http://schemas.openxmlformats.org/drawingml/2006/main">
              <a:ext uri="{FF2B5EF4-FFF2-40B4-BE49-F238E27FC236}">
                <a16:creationId xmlns:a16="http://schemas.microsoft.com/office/drawing/2014/main" id="{19710E92-6329-4F53-8D76-24E83F7EB0F1}"/>
              </a:ext>
            </a:extLst>
          </p:cNvPr>
          <p:cNvSpPr>
            <a:spLocks xmlns:a="http://schemas.openxmlformats.org/drawingml/2006/main" noGrp="1"/>
          </p:cNvSpPr>
          <p:nvPr/>
        </p:nvSpPr>
        <p:spPr>
          <a:xfrm xmlns:a="http://schemas.openxmlformats.org/drawingml/2006/main">
            <a:off x="9734550" y="2076450"/>
            <a:ext cx="1952625" cy="2095500"/>
          </a:xfrm>
          <a:prstGeom xmlns:a="http://schemas.openxmlformats.org/drawingml/2006/main" prst="roundRect">
            <a:avLst>
              <a:gd name="adj" fmla="val 5854"/>
            </a:avLst>
          </a:prstGeom>
          <a:solidFill xmlns:a="http://schemas.openxmlformats.org/drawingml/2006/main">
            <a:srgbClr val="183950"/>
          </a:solidFill>
          <a:ln xmlns:a="http://schemas.openxmlformats.org/drawingml/2006/main" w="9525">
            <a:solidFill>
              <a:srgbClr val="183950"/>
            </a:solidFill>
            <a:prstDash val="solid"/>
          </a:ln>
        </p:spPr>
      </p:sp>
      <p:sp>
        <p:nvSpPr>
          <p:cNvPr id="19" name="">
            <a:extLst xmlns:a="http://schemas.openxmlformats.org/drawingml/2006/main">
              <a:ext uri="{FF2B5EF4-FFF2-40B4-BE49-F238E27FC236}">
                <a16:creationId xmlns:a16="http://schemas.microsoft.com/office/drawing/2014/main" id="{ABFA9ECF-82BE-4F56-8D96-E74F72C3C411}"/>
              </a:ext>
            </a:extLst>
          </p:cNvPr>
          <p:cNvSpPr>
            <a:spLocks xmlns:a="http://schemas.openxmlformats.org/drawingml/2006/main" noGrp="1"/>
          </p:cNvSpPr>
          <p:nvPr/>
        </p:nvSpPr>
        <p:spPr>
          <a:xfrm xmlns:a="http://schemas.openxmlformats.org/drawingml/2006/main">
            <a:off x="9877425" y="2238375"/>
            <a:ext cx="1666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BFE1E1"/>
                </a:solidFill>
                <a:latin typeface="Arial"/>
                <a:ea typeface="Arial"/>
                <a:cs typeface="Arial"/>
              </a:defRPr>
            </a:pPr>
            <a:r>
              <a:rPr sz="1200" b="1">
                <a:solidFill>
                  <a:srgbClr val="BFE1E1"/>
                </a:solidFill>
                <a:latin typeface="Arial"/>
                <a:ea typeface="Arial"/>
                <a:cs typeface="Arial"/>
              </a:rPr>
              <a:t>5  USER ACTION</a:t>
            </a:r>
          </a:p>
        </p:txBody>
      </p:sp>
      <p:sp>
        <p:nvSpPr>
          <p:cNvPr id="20" name="">
            <a:extLst xmlns:a="http://schemas.openxmlformats.org/drawingml/2006/main">
              <a:ext uri="{FF2B5EF4-FFF2-40B4-BE49-F238E27FC236}">
                <a16:creationId xmlns:a16="http://schemas.microsoft.com/office/drawing/2014/main" id="{5CB245CB-A4B8-4D64-9091-444A505DC0A8}"/>
              </a:ext>
            </a:extLst>
          </p:cNvPr>
          <p:cNvSpPr>
            <a:spLocks xmlns:a="http://schemas.openxmlformats.org/drawingml/2006/main" noGrp="1"/>
          </p:cNvSpPr>
          <p:nvPr/>
        </p:nvSpPr>
        <p:spPr>
          <a:xfrm xmlns:a="http://schemas.openxmlformats.org/drawingml/2006/main">
            <a:off x="9877425" y="2676525"/>
            <a:ext cx="1666875" cy="1362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Engineer review</a:t>
            </a:r>
          </a:p>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Maintenance plan</a:t>
            </a:r>
          </a:p>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Part reservation</a:t>
            </a:r>
          </a:p>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Fleet readiness view</a:t>
            </a:r>
          </a:p>
        </p:txBody>
      </p:sp>
      <p:cxnSp>
        <p:nvCxnSpPr>
          <p:cNvPr id="49" name=""/>
          <p:cNvCxnSpPr>
            <a:stCxn xmlns:a="http://schemas.openxmlformats.org/drawingml/2006/main" id="6" idx="3"/>
            <a:endCxn xmlns:a="http://schemas.openxmlformats.org/drawingml/2006/main" id="9" idx="1"/>
          </p:cNvCxnSpPr>
          <p:nvPr/>
        </p:nvCxnSpPr>
        <p:spPr>
          <a:xfrm xmlns:a="http://schemas.openxmlformats.org/drawingml/2006/main">
            <a:off x="2428875" y="3124200"/>
            <a:ext cx="361950" cy="0"/>
          </a:xfrm>
          <a:prstGeom xmlns:a="http://schemas.openxmlformats.org/drawingml/2006/main" prst="straightConnector1">
            <a:avLst/>
          </a:prstGeom>
          <a:ln xmlns:a="http://schemas.openxmlformats.org/drawingml/2006/main" w="19050">
            <a:solidFill>
              <a:srgbClr val="087E80"/>
            </a:solidFill>
            <a:prstDash val="solid"/>
            <a:tailEnd type="triangle" w="med" len="med"/>
          </a:ln>
        </p:spPr>
      </p:cxnSp>
      <p:cxnSp>
        <p:nvCxnSpPr>
          <p:cNvPr id="50" name=""/>
          <p:cNvCxnSpPr>
            <a:stCxn xmlns:a="http://schemas.openxmlformats.org/drawingml/2006/main" id="9" idx="3"/>
            <a:endCxn xmlns:a="http://schemas.openxmlformats.org/drawingml/2006/main" id="12" idx="1"/>
          </p:cNvCxnSpPr>
          <p:nvPr/>
        </p:nvCxnSpPr>
        <p:spPr>
          <a:xfrm xmlns:a="http://schemas.openxmlformats.org/drawingml/2006/main">
            <a:off x="4743450" y="3124200"/>
            <a:ext cx="361950" cy="0"/>
          </a:xfrm>
          <a:prstGeom xmlns:a="http://schemas.openxmlformats.org/drawingml/2006/main" prst="straightConnector1">
            <a:avLst/>
          </a:prstGeom>
          <a:ln xmlns:a="http://schemas.openxmlformats.org/drawingml/2006/main" w="19050">
            <a:solidFill>
              <a:srgbClr val="087E80"/>
            </a:solidFill>
            <a:prstDash val="solid"/>
            <a:tailEnd type="triangle" w="med" len="med"/>
          </a:ln>
        </p:spPr>
      </p:cxnSp>
      <p:cxnSp>
        <p:nvCxnSpPr>
          <p:cNvPr id="51" name=""/>
          <p:cNvCxnSpPr>
            <a:stCxn xmlns:a="http://schemas.openxmlformats.org/drawingml/2006/main" id="12" idx="3"/>
            <a:endCxn xmlns:a="http://schemas.openxmlformats.org/drawingml/2006/main" id="15" idx="1"/>
          </p:cNvCxnSpPr>
          <p:nvPr/>
        </p:nvCxnSpPr>
        <p:spPr>
          <a:xfrm xmlns:a="http://schemas.openxmlformats.org/drawingml/2006/main">
            <a:off x="7058025" y="3124200"/>
            <a:ext cx="361950" cy="0"/>
          </a:xfrm>
          <a:prstGeom xmlns:a="http://schemas.openxmlformats.org/drawingml/2006/main" prst="straightConnector1">
            <a:avLst/>
          </a:prstGeom>
          <a:ln xmlns:a="http://schemas.openxmlformats.org/drawingml/2006/main" w="19050">
            <a:solidFill>
              <a:srgbClr val="087E80"/>
            </a:solidFill>
            <a:prstDash val="solid"/>
            <a:tailEnd type="triangle" w="med" len="med"/>
          </a:ln>
        </p:spPr>
      </p:cxnSp>
      <p:cxnSp>
        <p:nvCxnSpPr>
          <p:cNvPr id="52" name=""/>
          <p:cNvCxnSpPr>
            <a:stCxn xmlns:a="http://schemas.openxmlformats.org/drawingml/2006/main" id="15" idx="3"/>
            <a:endCxn xmlns:a="http://schemas.openxmlformats.org/drawingml/2006/main" id="18" idx="1"/>
          </p:cNvCxnSpPr>
          <p:nvPr/>
        </p:nvCxnSpPr>
        <p:spPr>
          <a:xfrm xmlns:a="http://schemas.openxmlformats.org/drawingml/2006/main">
            <a:off x="9372600" y="3124200"/>
            <a:ext cx="361950" cy="0"/>
          </a:xfrm>
          <a:prstGeom xmlns:a="http://schemas.openxmlformats.org/drawingml/2006/main" prst="straightConnector1">
            <a:avLst/>
          </a:prstGeom>
          <a:ln xmlns:a="http://schemas.openxmlformats.org/drawingml/2006/main" w="19050">
            <a:solidFill>
              <a:srgbClr val="087E80"/>
            </a:solidFill>
            <a:prstDash val="solid"/>
            <a:tailEnd type="triangle" w="med" len="med"/>
          </a:ln>
        </p:spPr>
      </p:cxnSp>
      <p:sp>
        <p:nvSpPr>
          <p:cNvPr id="25" name="">
            <a:extLst xmlns:a="http://schemas.openxmlformats.org/drawingml/2006/main">
              <a:ext uri="{FF2B5EF4-FFF2-40B4-BE49-F238E27FC236}">
                <a16:creationId xmlns:a16="http://schemas.microsoft.com/office/drawing/2014/main" id="{FA536924-A4FB-40D4-8453-B58F57984872}"/>
              </a:ext>
            </a:extLst>
          </p:cNvPr>
          <p:cNvSpPr>
            <a:spLocks xmlns:a="http://schemas.openxmlformats.org/drawingml/2006/main" noGrp="1"/>
          </p:cNvSpPr>
          <p:nvPr/>
        </p:nvSpPr>
        <p:spPr>
          <a:xfrm xmlns:a="http://schemas.openxmlformats.org/drawingml/2006/main">
            <a:off x="704850" y="4572000"/>
            <a:ext cx="10782300" cy="838200"/>
          </a:xfrm>
          <a:prstGeom xmlns:a="http://schemas.openxmlformats.org/drawingml/2006/main" prst="roundRect">
            <a:avLst>
              <a:gd name="adj" fmla="val 11364"/>
            </a:avLst>
          </a:prstGeom>
          <a:solidFill xmlns:a="http://schemas.openxmlformats.org/drawingml/2006/main">
            <a:srgbClr val="10263B"/>
          </a:solidFill>
          <a:ln xmlns:a="http://schemas.openxmlformats.org/drawingml/2006/main" w="9525">
            <a:solidFill>
              <a:srgbClr val="10263B"/>
            </a:solidFill>
            <a:prstDash val="solid"/>
          </a:ln>
        </p:spPr>
      </p:sp>
      <p:sp>
        <p:nvSpPr>
          <p:cNvPr id="26" name="">
            <a:extLst xmlns:a="http://schemas.openxmlformats.org/drawingml/2006/main">
              <a:ext uri="{FF2B5EF4-FFF2-40B4-BE49-F238E27FC236}">
                <a16:creationId xmlns:a16="http://schemas.microsoft.com/office/drawing/2014/main" id="{F66B3FAF-BA59-4199-8C1E-A62F1295F327}"/>
              </a:ext>
            </a:extLst>
          </p:cNvPr>
          <p:cNvSpPr>
            <a:spLocks xmlns:a="http://schemas.openxmlformats.org/drawingml/2006/main" noGrp="1"/>
          </p:cNvSpPr>
          <p:nvPr/>
        </p:nvSpPr>
        <p:spPr>
          <a:xfrm xmlns:a="http://schemas.openxmlformats.org/drawingml/2006/main">
            <a:off x="933450" y="4733925"/>
            <a:ext cx="2000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903"/>
          </a:bodyPr>
          <a:lstStyle xmlns:a="http://schemas.openxmlformats.org/drawingml/2006/main"/>
          <a:p xmlns:a="http://schemas.openxmlformats.org/drawingml/2006/main">
            <a:pPr algn="l">
              <a:defRPr sz="1200" b="1">
                <a:solidFill>
                  <a:srgbClr val="A9CFD5"/>
                </a:solidFill>
                <a:latin typeface="Arial"/>
                <a:ea typeface="Arial"/>
                <a:cs typeface="Arial"/>
              </a:defRPr>
            </a:pPr>
            <a:r>
              <a:rPr sz="1200" b="1">
                <a:solidFill>
                  <a:srgbClr val="A9CFD5"/>
                </a:solidFill>
                <a:latin typeface="Arial"/>
                <a:ea typeface="Arial"/>
                <a:cs typeface="Arial"/>
              </a:rPr>
              <a:t>CROSS-CUTTING CONTROLS</a:t>
            </a:r>
          </a:p>
        </p:txBody>
      </p:sp>
      <p:sp>
        <p:nvSpPr>
          <p:cNvPr id="27" name="">
            <a:extLst xmlns:a="http://schemas.openxmlformats.org/drawingml/2006/main">
              <a:ext uri="{FF2B5EF4-FFF2-40B4-BE49-F238E27FC236}">
                <a16:creationId xmlns:a16="http://schemas.microsoft.com/office/drawing/2014/main" id="{AEFB07CA-2FF8-4A99-9132-0F3D08B0CB3E}"/>
              </a:ext>
            </a:extLst>
          </p:cNvPr>
          <p:cNvSpPr>
            <a:spLocks xmlns:a="http://schemas.openxmlformats.org/drawingml/2006/main" noGrp="1"/>
          </p:cNvSpPr>
          <p:nvPr/>
        </p:nvSpPr>
        <p:spPr>
          <a:xfrm xmlns:a="http://schemas.openxmlformats.org/drawingml/2006/main">
            <a:off x="933450" y="5029200"/>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FFFFFF"/>
                </a:solidFill>
                <a:latin typeface="Arial"/>
                <a:ea typeface="Arial"/>
                <a:cs typeface="Arial"/>
              </a:defRPr>
            </a:pPr>
            <a:r>
              <a:rPr sz="1500" b="0">
                <a:solidFill>
                  <a:srgbClr val="FFFFFF"/>
                </a:solidFill>
                <a:latin typeface="Arial"/>
                <a:ea typeface="Arial"/>
                <a:cs typeface="Arial"/>
              </a:rPr>
              <a:t>Role-based access  ·  encryption  ·  audit trail  ·  data lineage  ·  model versioning  ·  human approval</a:t>
            </a:r>
          </a:p>
        </p:txBody>
      </p:sp>
      <p:sp>
        <p:nvSpPr>
          <p:cNvPr id="28" name="">
            <a:extLst xmlns:a="http://schemas.openxmlformats.org/drawingml/2006/main">
              <a:ext uri="{FF2B5EF4-FFF2-40B4-BE49-F238E27FC236}">
                <a16:creationId xmlns:a16="http://schemas.microsoft.com/office/drawing/2014/main" id="{183FFEC6-2A82-40BF-B909-AC6BFF03B6B1}"/>
              </a:ext>
            </a:extLst>
          </p:cNvPr>
          <p:cNvSpPr>
            <a:spLocks xmlns:a="http://schemas.openxmlformats.org/drawingml/2006/main" noGrp="1"/>
          </p:cNvSpPr>
          <p:nvPr/>
        </p:nvSpPr>
        <p:spPr>
          <a:xfrm xmlns:a="http://schemas.openxmlformats.org/drawingml/2006/main">
            <a:off x="704850" y="5724525"/>
            <a:ext cx="106203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5E7282"/>
                </a:solidFill>
                <a:latin typeface="Arial"/>
                <a:ea typeface="Arial"/>
                <a:cs typeface="Arial"/>
              </a:defRPr>
            </a:pPr>
            <a:r>
              <a:rPr sz="1350" b="0">
                <a:solidFill>
                  <a:srgbClr val="5E7282"/>
                </a:solidFill>
                <a:latin typeface="Arial"/>
                <a:ea typeface="Arial"/>
                <a:cs typeface="Arial"/>
              </a:rPr>
              <a:t>Feedback loop: confirmed defect, repair action and post-maintenance sensor response return to the governed record.</a:t>
            </a:r>
          </a:p>
        </p:txBody>
      </p:sp>
    </p:spTree>
    <p:extLst>
      <p:ext uri="{BB962C8B-B14F-4D97-AF65-F5344CB8AC3E}">
        <p14:creationId xmlns:p14="http://schemas.microsoft.com/office/powerpoint/2010/main" val="192335699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7D92523A-6742-43FB-B282-269895EC91AF}"/>
              </a:ext>
            </a:extLst>
          </p:cNvPr>
          <p:cNvSpPr>
            <a:spLocks xmlns:a="http://schemas.openxmlformats.org/drawingml/2006/main" noGrp="1"/>
          </p:cNvSpPr>
          <p:nvPr/>
        </p:nvSpPr>
        <p:spPr>
          <a:xfrm xmlns:a="http://schemas.openxmlformats.org/drawingml/2006/main">
            <a:off x="514350" y="323850"/>
            <a:ext cx="10763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a:solidFill>
                  <a:srgbClr val="10263B"/>
                </a:solidFill>
                <a:latin typeface="Arial"/>
                <a:ea typeface="Arial"/>
                <a:cs typeface="Arial"/>
              </a:defRPr>
            </a:pPr>
            <a:r>
              <a:rPr sz="3150" b="1">
                <a:solidFill>
                  <a:srgbClr val="10263B"/>
                </a:solidFill>
                <a:latin typeface="Arial"/>
                <a:ea typeface="Arial"/>
                <a:cs typeface="Arial"/>
              </a:rPr>
              <a:t>Real-data strategy and model path</a:t>
            </a:r>
          </a:p>
        </p:txBody>
      </p:sp>
      <p:sp>
        <p:nvSpPr>
          <p:cNvPr id="2" name="">
            <a:extLst xmlns:a="http://schemas.openxmlformats.org/drawingml/2006/main">
              <a:ext uri="{FF2B5EF4-FFF2-40B4-BE49-F238E27FC236}">
                <a16:creationId xmlns:a16="http://schemas.microsoft.com/office/drawing/2014/main" id="{1B10F9A3-56AA-4856-9B45-3CBFF49014ED}"/>
              </a:ext>
            </a:extLst>
          </p:cNvPr>
          <p:cNvSpPr>
            <a:spLocks xmlns:a="http://schemas.openxmlformats.org/drawingml/2006/main" noGrp="1"/>
          </p:cNvSpPr>
          <p:nvPr/>
        </p:nvSpPr>
        <p:spPr>
          <a:xfrm xmlns:a="http://schemas.openxmlformats.org/drawingml/2006/main">
            <a:off x="533400" y="8763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5E7282"/>
                </a:solidFill>
                <a:latin typeface="Arial"/>
                <a:ea typeface="Arial"/>
                <a:cs typeface="Arial"/>
              </a:defRPr>
            </a:pPr>
            <a:r>
              <a:rPr sz="1575" b="0">
                <a:solidFill>
                  <a:srgbClr val="5E7282"/>
                </a:solidFill>
                <a:latin typeface="Arial"/>
                <a:ea typeface="Arial"/>
                <a:cs typeface="Arial"/>
              </a:rPr>
              <a:t>Use public evidence to validate the workflow; use authorized fleet data to train the operational model</a:t>
            </a:r>
          </a:p>
        </p:txBody>
      </p:sp>
      <p:sp>
        <p:nvSpPr>
          <p:cNvPr id="3" name="">
            <a:extLst xmlns:a="http://schemas.openxmlformats.org/drawingml/2006/main">
              <a:ext uri="{FF2B5EF4-FFF2-40B4-BE49-F238E27FC236}">
                <a16:creationId xmlns:a16="http://schemas.microsoft.com/office/drawing/2014/main" id="{E67BA7DD-484E-43D2-A313-2C8C867F3F9F}"/>
              </a:ext>
            </a:extLst>
          </p:cNvPr>
          <p:cNvSpPr>
            <a:spLocks xmlns:a="http://schemas.openxmlformats.org/drawingml/2006/main" noGrp="1"/>
          </p:cNvSpPr>
          <p:nvPr/>
        </p:nvSpPr>
        <p:spPr>
          <a:xfrm xmlns:a="http://schemas.openxmlformats.org/drawingml/2006/main">
            <a:off x="514350" y="6334125"/>
            <a:ext cx="11163300" cy="0"/>
          </a:xfrm>
          <a:prstGeom xmlns:a="http://schemas.openxmlformats.org/drawingml/2006/main" prst="line">
            <a:avLst/>
          </a:prstGeom>
          <a:noFill xmlns:a="http://schemas.openxmlformats.org/drawingml/2006/main"/>
          <a:ln xmlns:a="http://schemas.openxmlformats.org/drawingml/2006/main" w="9525">
            <a:solidFill>
              <a:srgbClr val="D8E1E7"/>
            </a:solidFill>
            <a:prstDash val="solid"/>
          </a:ln>
        </p:spPr>
      </p:sp>
      <p:sp>
        <p:nvSpPr>
          <p:cNvPr id="4" name="">
            <a:extLst xmlns:a="http://schemas.openxmlformats.org/drawingml/2006/main">
              <a:ext uri="{FF2B5EF4-FFF2-40B4-BE49-F238E27FC236}">
                <a16:creationId xmlns:a16="http://schemas.microsoft.com/office/drawing/2014/main" id="{750FE7E8-4791-4FB8-BC4F-F6DD274FEC7B}"/>
              </a:ext>
            </a:extLst>
          </p:cNvPr>
          <p:cNvSpPr>
            <a:spLocks xmlns:a="http://schemas.openxmlformats.org/drawingml/2006/main" noGrp="1"/>
          </p:cNvSpPr>
          <p:nvPr/>
        </p:nvSpPr>
        <p:spPr>
          <a:xfrm xmlns:a="http://schemas.openxmlformats.org/drawingml/2006/main">
            <a:off x="514350" y="6448425"/>
            <a:ext cx="7429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5E7282"/>
                </a:solidFill>
                <a:latin typeface="Arial"/>
                <a:ea typeface="Arial"/>
                <a:cs typeface="Arial"/>
              </a:defRPr>
            </a:pPr>
            <a:r>
              <a:rPr sz="900" b="1">
                <a:solidFill>
                  <a:srgbClr val="5E7282"/>
                </a:solidFill>
                <a:latin typeface="Arial"/>
                <a:ea typeface="Arial"/>
                <a:cs typeface="Arial"/>
              </a:rPr>
              <a:t>AIR POWER  /  PREDICTIVE MAINTENANCE TECHNICAL APPROACH</a:t>
            </a:r>
          </a:p>
        </p:txBody>
      </p:sp>
      <p:sp>
        <p:nvSpPr>
          <p:cNvPr id="5" name="">
            <a:extLst xmlns:a="http://schemas.openxmlformats.org/drawingml/2006/main">
              <a:ext uri="{FF2B5EF4-FFF2-40B4-BE49-F238E27FC236}">
                <a16:creationId xmlns:a16="http://schemas.microsoft.com/office/drawing/2014/main" id="{3CDE0172-0022-413E-8329-50B3E1DF9167}"/>
              </a:ext>
            </a:extLst>
          </p:cNvPr>
          <p:cNvSpPr>
            <a:spLocks xmlns:a="http://schemas.openxmlformats.org/drawingml/2006/main" noGrp="1"/>
          </p:cNvSpPr>
          <p:nvPr/>
        </p:nvSpPr>
        <p:spPr>
          <a:xfrm xmlns:a="http://schemas.openxmlformats.org/drawingml/2006/main">
            <a:off x="11277600" y="641985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5E7282"/>
                </a:solidFill>
                <a:latin typeface="Arial"/>
                <a:ea typeface="Arial"/>
                <a:cs typeface="Arial"/>
              </a:defRPr>
            </a:pPr>
            <a:r>
              <a:rPr sz="1050" b="1">
                <a:solidFill>
                  <a:srgbClr val="5E7282"/>
                </a:solidFill>
                <a:latin typeface="Arial"/>
                <a:ea typeface="Arial"/>
                <a:cs typeface="Arial"/>
              </a:rPr>
              <a:t>03</a:t>
            </a:r>
          </a:p>
        </p:txBody>
      </p:sp>
      <p:sp>
        <p:nvSpPr>
          <p:cNvPr id="6" name="">
            <a:extLst xmlns:a="http://schemas.openxmlformats.org/drawingml/2006/main">
              <a:ext uri="{FF2B5EF4-FFF2-40B4-BE49-F238E27FC236}">
                <a16:creationId xmlns:a16="http://schemas.microsoft.com/office/drawing/2014/main" id="{9BBDE8AE-C840-4983-8EA5-486DE91AA822}"/>
              </a:ext>
            </a:extLst>
          </p:cNvPr>
          <p:cNvSpPr>
            <a:spLocks xmlns:a="http://schemas.openxmlformats.org/drawingml/2006/main" noGrp="1"/>
          </p:cNvSpPr>
          <p:nvPr/>
        </p:nvSpPr>
        <p:spPr>
          <a:xfrm xmlns:a="http://schemas.openxmlformats.org/drawingml/2006/main">
            <a:off x="495300" y="1714500"/>
            <a:ext cx="3429000" cy="2571750"/>
          </a:xfrm>
          <a:prstGeom xmlns:a="http://schemas.openxmlformats.org/drawingml/2006/main" prst="roundRect">
            <a:avLst>
              <a:gd name="adj" fmla="val 4444"/>
            </a:avLst>
          </a:prstGeom>
          <a:solidFill xmlns:a="http://schemas.openxmlformats.org/drawingml/2006/main">
            <a:srgbClr val="F2F6F8"/>
          </a:solidFill>
          <a:ln xmlns:a="http://schemas.openxmlformats.org/drawingml/2006/main" w="9525">
            <a:solidFill>
              <a:srgbClr val="D8E1E7"/>
            </a:solidFill>
            <a:prstDash val="solid"/>
          </a:ln>
        </p:spPr>
      </p:sp>
      <p:sp>
        <p:nvSpPr>
          <p:cNvPr id="7" name="">
            <a:extLst xmlns:a="http://schemas.openxmlformats.org/drawingml/2006/main">
              <a:ext uri="{FF2B5EF4-FFF2-40B4-BE49-F238E27FC236}">
                <a16:creationId xmlns:a16="http://schemas.microsoft.com/office/drawing/2014/main" id="{E0E3D84C-A8D1-4321-BF6D-628E4913AAE2}"/>
              </a:ext>
            </a:extLst>
          </p:cNvPr>
          <p:cNvSpPr>
            <a:spLocks xmlns:a="http://schemas.openxmlformats.org/drawingml/2006/main" noGrp="1"/>
          </p:cNvSpPr>
          <p:nvPr/>
        </p:nvSpPr>
        <p:spPr>
          <a:xfrm xmlns:a="http://schemas.openxmlformats.org/drawingml/2006/main">
            <a:off x="495300" y="1714500"/>
            <a:ext cx="66675" cy="2571750"/>
          </a:xfrm>
          <a:prstGeom xmlns:a="http://schemas.openxmlformats.org/drawingml/2006/main" prst="rect">
            <a:avLst/>
          </a:prstGeom>
          <a:solidFill xmlns:a="http://schemas.openxmlformats.org/drawingml/2006/main">
            <a:srgbClr val="087E80"/>
          </a:solidFill>
          <a:ln xmlns:a="http://schemas.openxmlformats.org/drawingml/2006/main" w="0">
            <a:solidFill>
              <a:srgbClr val="087E80"/>
            </a:solidFill>
            <a:prstDash val="solid"/>
          </a:ln>
        </p:spPr>
      </p:sp>
      <p:sp>
        <p:nvSpPr>
          <p:cNvPr id="8" name="">
            <a:extLst xmlns:a="http://schemas.openxmlformats.org/drawingml/2006/main">
              <a:ext uri="{FF2B5EF4-FFF2-40B4-BE49-F238E27FC236}">
                <a16:creationId xmlns:a16="http://schemas.microsoft.com/office/drawing/2014/main" id="{38E8F851-1A94-4E66-83F0-7B896E805BFC}"/>
              </a:ext>
            </a:extLst>
          </p:cNvPr>
          <p:cNvSpPr>
            <a:spLocks xmlns:a="http://schemas.openxmlformats.org/drawingml/2006/main" noGrp="1"/>
          </p:cNvSpPr>
          <p:nvPr/>
        </p:nvSpPr>
        <p:spPr>
          <a:xfrm xmlns:a="http://schemas.openxmlformats.org/drawingml/2006/main">
            <a:off x="685800" y="1866900"/>
            <a:ext cx="3086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0263B"/>
                </a:solidFill>
                <a:latin typeface="Arial"/>
                <a:ea typeface="Arial"/>
                <a:cs typeface="Arial"/>
              </a:defRPr>
            </a:pPr>
            <a:r>
              <a:rPr sz="1650" b="1">
                <a:solidFill>
                  <a:srgbClr val="10263B"/>
                </a:solidFill>
                <a:latin typeface="Arial"/>
                <a:ea typeface="Arial"/>
                <a:cs typeface="Arial"/>
              </a:rPr>
              <a:t>REAL PUBLIC EVIDENCE</a:t>
            </a:r>
          </a:p>
        </p:txBody>
      </p:sp>
      <p:sp>
        <p:nvSpPr>
          <p:cNvPr id="9" name="">
            <a:extLst xmlns:a="http://schemas.openxmlformats.org/drawingml/2006/main">
              <a:ext uri="{FF2B5EF4-FFF2-40B4-BE49-F238E27FC236}">
                <a16:creationId xmlns:a16="http://schemas.microsoft.com/office/drawing/2014/main" id="{8F307ACE-EB45-4EF7-9C19-8DCF729C1F45}"/>
              </a:ext>
            </a:extLst>
          </p:cNvPr>
          <p:cNvSpPr>
            <a:spLocks xmlns:a="http://schemas.openxmlformats.org/drawingml/2006/main" noGrp="1"/>
          </p:cNvSpPr>
          <p:nvPr/>
        </p:nvSpPr>
        <p:spPr>
          <a:xfrm xmlns:a="http://schemas.openxmlformats.org/drawingml/2006/main">
            <a:off x="685800" y="2305050"/>
            <a:ext cx="3086100" cy="1885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172B3C"/>
                </a:solidFill>
                <a:latin typeface="Arial"/>
                <a:ea typeface="Arial"/>
                <a:cs typeface="Arial"/>
              </a:defRPr>
            </a:pPr>
            <a:r>
              <a:rPr sz="1350" b="0">
                <a:solidFill>
                  <a:srgbClr val="172B3C"/>
                </a:solidFill>
                <a:latin typeface="Arial"/>
                <a:ea typeface="Arial"/>
                <a:cs typeface="Arial"/>
              </a:rPr>
              <a:t>India context</a:t>
            </a:r>
          </a:p>
          <a:p xmlns:a="http://schemas.openxmlformats.org/drawingml/2006/main">
            <a:pPr algn="l">
              <a:defRPr sz="1350" b="0">
                <a:solidFill>
                  <a:srgbClr val="172B3C"/>
                </a:solidFill>
                <a:latin typeface="Arial"/>
                <a:ea typeface="Arial"/>
                <a:cs typeface="Arial"/>
              </a:defRPr>
            </a:pPr>
            <a:r>
              <a:rPr sz="1350" b="0">
                <a:solidFill>
                  <a:srgbClr val="172B3C"/>
                </a:solidFill>
                <a:latin typeface="Arial"/>
                <a:ea typeface="Arial"/>
                <a:cs typeface="Arial"/>
              </a:rPr>
              <a:t>DGCA / IndiGo operational aggregates</a:t>
            </a:r>
          </a:p>
          <a:p xmlns:a="http://schemas.openxmlformats.org/drawingml/2006/main">
            <a:pPr algn="l">
              <a:defRPr sz="1350" b="0">
                <a:solidFill>
                  <a:srgbClr val="172B3C"/>
                </a:solidFill>
                <a:latin typeface="Arial"/>
                <a:ea typeface="Arial"/>
                <a:cs typeface="Arial"/>
              </a:defRPr>
            </a:pPr>
            <a:r>
              <a:rPr sz="1350" b="0">
                <a:solidFill>
                  <a:srgbClr val="172B3C"/>
                </a:solidFill>
                <a:latin typeface="Arial"/>
                <a:ea typeface="Arial"/>
                <a:cs typeface="Arial"/>
              </a:rPr>
              <a:t>AAIB occurrence counts</a:t>
            </a:r>
          </a:p>
          <a:p xmlns:a="http://schemas.openxmlformats.org/drawingml/2006/main">
            <a:r>
              <a:t/>
            </a:r>
          </a:p>
          <a:p xmlns:a="http://schemas.openxmlformats.org/drawingml/2006/main">
            <a:pPr algn="l">
              <a:defRPr sz="1350" b="0">
                <a:solidFill>
                  <a:srgbClr val="172B3C"/>
                </a:solidFill>
                <a:latin typeface="Arial"/>
                <a:ea typeface="Arial"/>
                <a:cs typeface="Arial"/>
              </a:defRPr>
            </a:pPr>
            <a:r>
              <a:rPr sz="1350" b="0">
                <a:solidFill>
                  <a:srgbClr val="172B3C"/>
                </a:solidFill>
                <a:latin typeface="Arial"/>
                <a:ea typeface="Arial"/>
                <a:cs typeface="Arial"/>
              </a:rPr>
              <a:t>Aircraft-level condition is not published.</a:t>
            </a:r>
          </a:p>
        </p:txBody>
      </p:sp>
      <p:sp>
        <p:nvSpPr>
          <p:cNvPr id="10" name="">
            <a:extLst xmlns:a="http://schemas.openxmlformats.org/drawingml/2006/main">
              <a:ext uri="{FF2B5EF4-FFF2-40B4-BE49-F238E27FC236}">
                <a16:creationId xmlns:a16="http://schemas.microsoft.com/office/drawing/2014/main" id="{6FAF981B-2237-4624-A565-181E59744E09}"/>
              </a:ext>
            </a:extLst>
          </p:cNvPr>
          <p:cNvSpPr>
            <a:spLocks xmlns:a="http://schemas.openxmlformats.org/drawingml/2006/main" noGrp="1"/>
          </p:cNvSpPr>
          <p:nvPr/>
        </p:nvSpPr>
        <p:spPr>
          <a:xfrm xmlns:a="http://schemas.openxmlformats.org/drawingml/2006/main">
            <a:off x="4333875" y="1714500"/>
            <a:ext cx="3429000" cy="2571750"/>
          </a:xfrm>
          <a:prstGeom xmlns:a="http://schemas.openxmlformats.org/drawingml/2006/main" prst="roundRect">
            <a:avLst>
              <a:gd name="adj" fmla="val 4444"/>
            </a:avLst>
          </a:prstGeom>
          <a:solidFill xmlns:a="http://schemas.openxmlformats.org/drawingml/2006/main">
            <a:srgbClr val="DDEFEF"/>
          </a:solidFill>
          <a:ln xmlns:a="http://schemas.openxmlformats.org/drawingml/2006/main" w="9525">
            <a:solidFill>
              <a:srgbClr val="D8E1E7"/>
            </a:solidFill>
            <a:prstDash val="solid"/>
          </a:ln>
        </p:spPr>
      </p:sp>
      <p:sp>
        <p:nvSpPr>
          <p:cNvPr id="11" name="">
            <a:extLst xmlns:a="http://schemas.openxmlformats.org/drawingml/2006/main">
              <a:ext uri="{FF2B5EF4-FFF2-40B4-BE49-F238E27FC236}">
                <a16:creationId xmlns:a16="http://schemas.microsoft.com/office/drawing/2014/main" id="{E40F1C7A-B314-4068-A4FE-F6EAD71466F4}"/>
              </a:ext>
            </a:extLst>
          </p:cNvPr>
          <p:cNvSpPr>
            <a:spLocks xmlns:a="http://schemas.openxmlformats.org/drawingml/2006/main" noGrp="1"/>
          </p:cNvSpPr>
          <p:nvPr/>
        </p:nvSpPr>
        <p:spPr>
          <a:xfrm xmlns:a="http://schemas.openxmlformats.org/drawingml/2006/main">
            <a:off x="4333875" y="1714500"/>
            <a:ext cx="66675" cy="2571750"/>
          </a:xfrm>
          <a:prstGeom xmlns:a="http://schemas.openxmlformats.org/drawingml/2006/main" prst="rect">
            <a:avLst/>
          </a:prstGeom>
          <a:solidFill xmlns:a="http://schemas.openxmlformats.org/drawingml/2006/main">
            <a:srgbClr val="C77B19"/>
          </a:solidFill>
          <a:ln xmlns:a="http://schemas.openxmlformats.org/drawingml/2006/main" w="0">
            <a:solidFill>
              <a:srgbClr val="C77B19"/>
            </a:solidFill>
            <a:prstDash val="solid"/>
          </a:ln>
        </p:spPr>
      </p:sp>
      <p:sp>
        <p:nvSpPr>
          <p:cNvPr id="12" name="">
            <a:extLst xmlns:a="http://schemas.openxmlformats.org/drawingml/2006/main">
              <a:ext uri="{FF2B5EF4-FFF2-40B4-BE49-F238E27FC236}">
                <a16:creationId xmlns:a16="http://schemas.microsoft.com/office/drawing/2014/main" id="{D88E7C31-43FD-40A8-9C2C-939172BF9E32}"/>
              </a:ext>
            </a:extLst>
          </p:cNvPr>
          <p:cNvSpPr>
            <a:spLocks xmlns:a="http://schemas.openxmlformats.org/drawingml/2006/main" noGrp="1"/>
          </p:cNvSpPr>
          <p:nvPr/>
        </p:nvSpPr>
        <p:spPr>
          <a:xfrm xmlns:a="http://schemas.openxmlformats.org/drawingml/2006/main">
            <a:off x="4524375" y="1866900"/>
            <a:ext cx="3086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0263B"/>
                </a:solidFill>
                <a:latin typeface="Arial"/>
                <a:ea typeface="Arial"/>
                <a:cs typeface="Arial"/>
              </a:defRPr>
            </a:pPr>
            <a:r>
              <a:rPr sz="1650" b="1">
                <a:solidFill>
                  <a:srgbClr val="10263B"/>
                </a:solidFill>
                <a:latin typeface="Arial"/>
                <a:ea typeface="Arial"/>
                <a:cs typeface="Arial"/>
              </a:rPr>
              <a:t>REAL SENSOR BENCHMARK</a:t>
            </a:r>
          </a:p>
        </p:txBody>
      </p:sp>
      <p:sp>
        <p:nvSpPr>
          <p:cNvPr id="13" name="">
            <a:extLst xmlns:a="http://schemas.openxmlformats.org/drawingml/2006/main">
              <a:ext uri="{FF2B5EF4-FFF2-40B4-BE49-F238E27FC236}">
                <a16:creationId xmlns:a16="http://schemas.microsoft.com/office/drawing/2014/main" id="{898F420F-DF34-46E7-8AE1-B733C17EEB16}"/>
              </a:ext>
            </a:extLst>
          </p:cNvPr>
          <p:cNvSpPr>
            <a:spLocks xmlns:a="http://schemas.openxmlformats.org/drawingml/2006/main" noGrp="1"/>
          </p:cNvSpPr>
          <p:nvPr/>
        </p:nvSpPr>
        <p:spPr>
          <a:xfrm xmlns:a="http://schemas.openxmlformats.org/drawingml/2006/main">
            <a:off x="4524375" y="2305050"/>
            <a:ext cx="3086100" cy="1885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172B3C"/>
                </a:solidFill>
                <a:latin typeface="Arial"/>
                <a:ea typeface="Arial"/>
                <a:cs typeface="Arial"/>
              </a:defRPr>
            </a:pPr>
            <a:r>
              <a:rPr sz="1350" b="0">
                <a:solidFill>
                  <a:srgbClr val="172B3C"/>
                </a:solidFill>
                <a:latin typeface="Arial"/>
                <a:ea typeface="Arial"/>
                <a:cs typeface="Arial"/>
              </a:rPr>
              <a:t>NGAFID general-aviation records</a:t>
            </a:r>
          </a:p>
          <a:p xmlns:a="http://schemas.openxmlformats.org/drawingml/2006/main">
            <a:pPr algn="l">
              <a:defRPr sz="1350" b="0">
                <a:solidFill>
                  <a:srgbClr val="172B3C"/>
                </a:solidFill>
                <a:latin typeface="Arial"/>
                <a:ea typeface="Arial"/>
                <a:cs typeface="Arial"/>
              </a:defRPr>
            </a:pPr>
            <a:r>
              <a:rPr sz="1350" b="0">
                <a:solidFill>
                  <a:srgbClr val="172B3C"/>
                </a:solidFill>
                <a:latin typeface="Arial"/>
                <a:ea typeface="Arial"/>
                <a:cs typeface="Arial"/>
              </a:rPr>
              <a:t>Cessna 172S flight 813 case trace</a:t>
            </a:r>
          </a:p>
          <a:p xmlns:a="http://schemas.openxmlformats.org/drawingml/2006/main">
            <a:pPr algn="l">
              <a:defRPr sz="1350" b="0">
                <a:solidFill>
                  <a:srgbClr val="172B3C"/>
                </a:solidFill>
                <a:latin typeface="Arial"/>
                <a:ea typeface="Arial"/>
                <a:cs typeface="Arial"/>
              </a:defRPr>
            </a:pPr>
            <a:r>
              <a:rPr sz="1350" b="0">
                <a:solidFill>
                  <a:srgbClr val="172B3C"/>
                </a:solidFill>
                <a:latin typeface="Arial"/>
                <a:ea typeface="Arial"/>
                <a:cs typeface="Arial"/>
              </a:rPr>
              <a:t>“Low Oil Pressure” event label</a:t>
            </a:r>
          </a:p>
          <a:p xmlns:a="http://schemas.openxmlformats.org/drawingml/2006/main">
            <a:r>
              <a:t/>
            </a:r>
          </a:p>
          <a:p xmlns:a="http://schemas.openxmlformats.org/drawingml/2006/main">
            <a:pPr algn="l">
              <a:defRPr sz="1350" b="0">
                <a:solidFill>
                  <a:srgbClr val="172B3C"/>
                </a:solidFill>
                <a:latin typeface="Arial"/>
                <a:ea typeface="Arial"/>
                <a:cs typeface="Arial"/>
              </a:defRPr>
            </a:pPr>
            <a:r>
              <a:rPr sz="1350" b="0">
                <a:solidFill>
                  <a:srgbClr val="172B3C"/>
                </a:solidFill>
                <a:latin typeface="Arial"/>
                <a:ea typeface="Arial"/>
                <a:cs typeface="Arial"/>
              </a:rPr>
              <a:t>Benchmark only — not Indian defence.</a:t>
            </a:r>
          </a:p>
        </p:txBody>
      </p:sp>
      <p:sp>
        <p:nvSpPr>
          <p:cNvPr id="14" name="">
            <a:extLst xmlns:a="http://schemas.openxmlformats.org/drawingml/2006/main">
              <a:ext uri="{FF2B5EF4-FFF2-40B4-BE49-F238E27FC236}">
                <a16:creationId xmlns:a16="http://schemas.microsoft.com/office/drawing/2014/main" id="{63E99718-8332-4F7E-BE33-F05B96495160}"/>
              </a:ext>
            </a:extLst>
          </p:cNvPr>
          <p:cNvSpPr>
            <a:spLocks xmlns:a="http://schemas.openxmlformats.org/drawingml/2006/main" noGrp="1"/>
          </p:cNvSpPr>
          <p:nvPr/>
        </p:nvSpPr>
        <p:spPr>
          <a:xfrm xmlns:a="http://schemas.openxmlformats.org/drawingml/2006/main">
            <a:off x="8172450" y="1714500"/>
            <a:ext cx="3429000" cy="2571750"/>
          </a:xfrm>
          <a:prstGeom xmlns:a="http://schemas.openxmlformats.org/drawingml/2006/main" prst="roundRect">
            <a:avLst>
              <a:gd name="adj" fmla="val 4444"/>
            </a:avLst>
          </a:prstGeom>
          <a:solidFill xmlns:a="http://schemas.openxmlformats.org/drawingml/2006/main">
            <a:srgbClr val="183950"/>
          </a:solidFill>
          <a:ln xmlns:a="http://schemas.openxmlformats.org/drawingml/2006/main" w="9525">
            <a:solidFill>
              <a:srgbClr val="183950"/>
            </a:solidFill>
            <a:prstDash val="solid"/>
          </a:ln>
        </p:spPr>
      </p:sp>
      <p:sp>
        <p:nvSpPr>
          <p:cNvPr id="15" name="">
            <a:extLst xmlns:a="http://schemas.openxmlformats.org/drawingml/2006/main">
              <a:ext uri="{FF2B5EF4-FFF2-40B4-BE49-F238E27FC236}">
                <a16:creationId xmlns:a16="http://schemas.microsoft.com/office/drawing/2014/main" id="{AC78CEAE-284D-430A-9E08-384CA33E922F}"/>
              </a:ext>
            </a:extLst>
          </p:cNvPr>
          <p:cNvSpPr>
            <a:spLocks xmlns:a="http://schemas.openxmlformats.org/drawingml/2006/main" noGrp="1"/>
          </p:cNvSpPr>
          <p:nvPr/>
        </p:nvSpPr>
        <p:spPr>
          <a:xfrm xmlns:a="http://schemas.openxmlformats.org/drawingml/2006/main">
            <a:off x="8172450" y="1714500"/>
            <a:ext cx="66675" cy="2571750"/>
          </a:xfrm>
          <a:prstGeom xmlns:a="http://schemas.openxmlformats.org/drawingml/2006/main" prst="rect">
            <a:avLst/>
          </a:prstGeom>
          <a:solidFill xmlns:a="http://schemas.openxmlformats.org/drawingml/2006/main">
            <a:srgbClr val="A9CFD5"/>
          </a:solidFill>
          <a:ln xmlns:a="http://schemas.openxmlformats.org/drawingml/2006/main" w="0">
            <a:solidFill>
              <a:srgbClr val="A9CFD5"/>
            </a:solidFill>
            <a:prstDash val="solid"/>
          </a:ln>
        </p:spPr>
      </p:sp>
      <p:sp>
        <p:nvSpPr>
          <p:cNvPr id="16" name="">
            <a:extLst xmlns:a="http://schemas.openxmlformats.org/drawingml/2006/main">
              <a:ext uri="{FF2B5EF4-FFF2-40B4-BE49-F238E27FC236}">
                <a16:creationId xmlns:a16="http://schemas.microsoft.com/office/drawing/2014/main" id="{500DB21E-C54A-49FE-820D-057AF127CC3A}"/>
              </a:ext>
            </a:extLst>
          </p:cNvPr>
          <p:cNvSpPr>
            <a:spLocks xmlns:a="http://schemas.openxmlformats.org/drawingml/2006/main" noGrp="1"/>
          </p:cNvSpPr>
          <p:nvPr/>
        </p:nvSpPr>
        <p:spPr>
          <a:xfrm xmlns:a="http://schemas.openxmlformats.org/drawingml/2006/main">
            <a:off x="8362950" y="1866900"/>
            <a:ext cx="3086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BFE1E1"/>
                </a:solidFill>
                <a:latin typeface="Arial"/>
                <a:ea typeface="Arial"/>
                <a:cs typeface="Arial"/>
              </a:defRPr>
            </a:pPr>
            <a:r>
              <a:rPr sz="1650" b="1">
                <a:solidFill>
                  <a:srgbClr val="BFE1E1"/>
                </a:solidFill>
                <a:latin typeface="Arial"/>
                <a:ea typeface="Arial"/>
                <a:cs typeface="Arial"/>
              </a:rPr>
              <a:t>AUTHORIZED FLEET DATA</a:t>
            </a:r>
          </a:p>
        </p:txBody>
      </p:sp>
      <p:sp>
        <p:nvSpPr>
          <p:cNvPr id="17" name="">
            <a:extLst xmlns:a="http://schemas.openxmlformats.org/drawingml/2006/main">
              <a:ext uri="{FF2B5EF4-FFF2-40B4-BE49-F238E27FC236}">
                <a16:creationId xmlns:a16="http://schemas.microsoft.com/office/drawing/2014/main" id="{BD539933-5790-41F9-9E85-50DD367AECFC}"/>
              </a:ext>
            </a:extLst>
          </p:cNvPr>
          <p:cNvSpPr>
            <a:spLocks xmlns:a="http://schemas.openxmlformats.org/drawingml/2006/main" noGrp="1"/>
          </p:cNvSpPr>
          <p:nvPr/>
        </p:nvSpPr>
        <p:spPr>
          <a:xfrm xmlns:a="http://schemas.openxmlformats.org/drawingml/2006/main">
            <a:off x="8362950" y="2305050"/>
            <a:ext cx="3086100" cy="1885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FFFFFF"/>
                </a:solidFill>
                <a:latin typeface="Arial"/>
                <a:ea typeface="Arial"/>
                <a:cs typeface="Arial"/>
              </a:defRPr>
            </a:pPr>
            <a:r>
              <a:rPr sz="1350" b="0">
                <a:solidFill>
                  <a:srgbClr val="FFFFFF"/>
                </a:solidFill>
                <a:latin typeface="Arial"/>
                <a:ea typeface="Arial"/>
                <a:cs typeface="Arial"/>
              </a:rPr>
              <a:t>Health sensors + flight hours/cycles</a:t>
            </a:r>
          </a:p>
          <a:p xmlns:a="http://schemas.openxmlformats.org/drawingml/2006/main">
            <a:pPr algn="l">
              <a:defRPr sz="1350" b="0">
                <a:solidFill>
                  <a:srgbClr val="FFFFFF"/>
                </a:solidFill>
                <a:latin typeface="Arial"/>
                <a:ea typeface="Arial"/>
                <a:cs typeface="Arial"/>
              </a:defRPr>
            </a:pPr>
            <a:r>
              <a:rPr sz="1350" b="0">
                <a:solidFill>
                  <a:srgbClr val="FFFFFF"/>
                </a:solidFill>
                <a:latin typeface="Arial"/>
                <a:ea typeface="Arial"/>
                <a:cs typeface="Arial"/>
              </a:rPr>
              <a:t>Defect and maintenance labels</a:t>
            </a:r>
          </a:p>
          <a:p xmlns:a="http://schemas.openxmlformats.org/drawingml/2006/main">
            <a:pPr algn="l">
              <a:defRPr sz="1350" b="0">
                <a:solidFill>
                  <a:srgbClr val="FFFFFF"/>
                </a:solidFill>
                <a:latin typeface="Arial"/>
                <a:ea typeface="Arial"/>
                <a:cs typeface="Arial"/>
              </a:defRPr>
            </a:pPr>
            <a:r>
              <a:rPr sz="1350" b="0">
                <a:solidFill>
                  <a:srgbClr val="FFFFFF"/>
                </a:solidFill>
                <a:latin typeface="Arial"/>
                <a:ea typeface="Arial"/>
                <a:cs typeface="Arial"/>
              </a:rPr>
              <a:t>Part issues + stock position</a:t>
            </a:r>
          </a:p>
          <a:p xmlns:a="http://schemas.openxmlformats.org/drawingml/2006/main">
            <a:pPr algn="l">
              <a:defRPr sz="1350" b="0">
                <a:solidFill>
                  <a:srgbClr val="FFFFFF"/>
                </a:solidFill>
                <a:latin typeface="Arial"/>
                <a:ea typeface="Arial"/>
                <a:cs typeface="Arial"/>
              </a:defRPr>
            </a:pPr>
            <a:r>
              <a:rPr sz="1350" b="0">
                <a:solidFill>
                  <a:srgbClr val="FFFFFF"/>
                </a:solidFill>
                <a:latin typeface="Arial"/>
                <a:ea typeface="Arial"/>
                <a:cs typeface="Arial"/>
              </a:rPr>
              <a:t>Grounding / return-to-service times</a:t>
            </a:r>
          </a:p>
          <a:p xmlns:a="http://schemas.openxmlformats.org/drawingml/2006/main">
            <a:r>
              <a:t/>
            </a:r>
          </a:p>
          <a:p xmlns:a="http://schemas.openxmlformats.org/drawingml/2006/main">
            <a:pPr algn="l">
              <a:defRPr sz="1350" b="0">
                <a:solidFill>
                  <a:srgbClr val="FFFFFF"/>
                </a:solidFill>
                <a:latin typeface="Arial"/>
                <a:ea typeface="Arial"/>
                <a:cs typeface="Arial"/>
              </a:defRPr>
            </a:pPr>
            <a:r>
              <a:rPr sz="1350" b="0">
                <a:solidFill>
                  <a:srgbClr val="FFFFFF"/>
                </a:solidFill>
                <a:latin typeface="Arial"/>
                <a:ea typeface="Arial"/>
                <a:cs typeface="Arial"/>
              </a:rPr>
              <a:t>Required for IAF deployment.</a:t>
            </a:r>
          </a:p>
        </p:txBody>
      </p:sp>
      <p:sp>
        <p:nvSpPr>
          <p:cNvPr id="18" name="">
            <a:extLst xmlns:a="http://schemas.openxmlformats.org/drawingml/2006/main">
              <a:ext uri="{FF2B5EF4-FFF2-40B4-BE49-F238E27FC236}">
                <a16:creationId xmlns:a16="http://schemas.microsoft.com/office/drawing/2014/main" id="{9C824751-FC24-4E17-A74C-F89501E9F139}"/>
              </a:ext>
            </a:extLst>
          </p:cNvPr>
          <p:cNvSpPr>
            <a:spLocks xmlns:a="http://schemas.openxmlformats.org/drawingml/2006/main" noGrp="1"/>
          </p:cNvSpPr>
          <p:nvPr/>
        </p:nvSpPr>
        <p:spPr>
          <a:xfrm xmlns:a="http://schemas.openxmlformats.org/drawingml/2006/main">
            <a:off x="3952875" y="2695575"/>
            <a:ext cx="323850" cy="381000"/>
          </a:xfrm>
          <a:prstGeom xmlns:a="http://schemas.openxmlformats.org/drawingml/2006/main" prst="rightArrow">
            <a:avLst/>
          </a:prstGeom>
          <a:solidFill xmlns:a="http://schemas.openxmlformats.org/drawingml/2006/main">
            <a:srgbClr val="C77B19"/>
          </a:solidFill>
          <a:ln xmlns:a="http://schemas.openxmlformats.org/drawingml/2006/main" w="0">
            <a:solidFill>
              <a:srgbClr val="C77B19"/>
            </a:solidFill>
            <a:prstDash val="solid"/>
          </a:ln>
        </p:spPr>
      </p:sp>
      <p:sp>
        <p:nvSpPr>
          <p:cNvPr id="19" name="">
            <a:extLst xmlns:a="http://schemas.openxmlformats.org/drawingml/2006/main">
              <a:ext uri="{FF2B5EF4-FFF2-40B4-BE49-F238E27FC236}">
                <a16:creationId xmlns:a16="http://schemas.microsoft.com/office/drawing/2014/main" id="{5B10C458-E80B-4C1A-ACDA-69A00199CCD5}"/>
              </a:ext>
            </a:extLst>
          </p:cNvPr>
          <p:cNvSpPr>
            <a:spLocks xmlns:a="http://schemas.openxmlformats.org/drawingml/2006/main" noGrp="1"/>
          </p:cNvSpPr>
          <p:nvPr/>
        </p:nvSpPr>
        <p:spPr>
          <a:xfrm xmlns:a="http://schemas.openxmlformats.org/drawingml/2006/main">
            <a:off x="7791450" y="2695575"/>
            <a:ext cx="323850" cy="381000"/>
          </a:xfrm>
          <a:prstGeom xmlns:a="http://schemas.openxmlformats.org/drawingml/2006/main" prst="rightArrow">
            <a:avLst/>
          </a:prstGeom>
          <a:solidFill xmlns:a="http://schemas.openxmlformats.org/drawingml/2006/main">
            <a:srgbClr val="C77B19"/>
          </a:solidFill>
          <a:ln xmlns:a="http://schemas.openxmlformats.org/drawingml/2006/main" w="0">
            <a:solidFill>
              <a:srgbClr val="C77B19"/>
            </a:solidFill>
            <a:prstDash val="solid"/>
          </a:ln>
        </p:spPr>
      </p:sp>
      <p:sp>
        <p:nvSpPr>
          <p:cNvPr id="20" name="">
            <a:extLst xmlns:a="http://schemas.openxmlformats.org/drawingml/2006/main">
              <a:ext uri="{FF2B5EF4-FFF2-40B4-BE49-F238E27FC236}">
                <a16:creationId xmlns:a16="http://schemas.microsoft.com/office/drawing/2014/main" id="{172CEABA-A7B2-4EFE-937B-29D701E136CD}"/>
              </a:ext>
            </a:extLst>
          </p:cNvPr>
          <p:cNvSpPr>
            <a:spLocks xmlns:a="http://schemas.openxmlformats.org/drawingml/2006/main" noGrp="1"/>
          </p:cNvSpPr>
          <p:nvPr/>
        </p:nvSpPr>
        <p:spPr>
          <a:xfrm xmlns:a="http://schemas.openxmlformats.org/drawingml/2006/main">
            <a:off x="495300" y="4667250"/>
            <a:ext cx="11106150" cy="1066800"/>
          </a:xfrm>
          <a:prstGeom xmlns:a="http://schemas.openxmlformats.org/drawingml/2006/main" prst="roundRect">
            <a:avLst>
              <a:gd name="adj" fmla="val 8929"/>
            </a:avLst>
          </a:prstGeom>
          <a:solidFill xmlns:a="http://schemas.openxmlformats.org/drawingml/2006/main">
            <a:srgbClr val="F7F9FA"/>
          </a:solidFill>
          <a:ln xmlns:a="http://schemas.openxmlformats.org/drawingml/2006/main" w="9525">
            <a:solidFill>
              <a:srgbClr val="D8E1E7"/>
            </a:solidFill>
            <a:prstDash val="solid"/>
          </a:ln>
        </p:spPr>
      </p:sp>
      <p:sp>
        <p:nvSpPr>
          <p:cNvPr id="21" name="">
            <a:extLst xmlns:a="http://schemas.openxmlformats.org/drawingml/2006/main">
              <a:ext uri="{FF2B5EF4-FFF2-40B4-BE49-F238E27FC236}">
                <a16:creationId xmlns:a16="http://schemas.microsoft.com/office/drawing/2014/main" id="{E53C531C-CF36-4E68-8BBC-EBF2BD71FF7E}"/>
              </a:ext>
            </a:extLst>
          </p:cNvPr>
          <p:cNvSpPr>
            <a:spLocks xmlns:a="http://schemas.openxmlformats.org/drawingml/2006/main" noGrp="1"/>
          </p:cNvSpPr>
          <p:nvPr/>
        </p:nvSpPr>
        <p:spPr>
          <a:xfrm xmlns:a="http://schemas.openxmlformats.org/drawingml/2006/main">
            <a:off x="723900" y="4810125"/>
            <a:ext cx="2333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087E80"/>
                </a:solidFill>
                <a:latin typeface="Arial"/>
                <a:ea typeface="Arial"/>
                <a:cs typeface="Arial"/>
              </a:defRPr>
            </a:pPr>
            <a:r>
              <a:rPr sz="1275" b="1">
                <a:solidFill>
                  <a:srgbClr val="087E80"/>
                </a:solidFill>
                <a:latin typeface="Arial"/>
                <a:ea typeface="Arial"/>
                <a:cs typeface="Arial"/>
              </a:rPr>
              <a:t>MODEL DEVELOPMENT</a:t>
            </a:r>
          </a:p>
        </p:txBody>
      </p:sp>
      <p:sp>
        <p:nvSpPr>
          <p:cNvPr id="22" name="">
            <a:extLst xmlns:a="http://schemas.openxmlformats.org/drawingml/2006/main">
              <a:ext uri="{FF2B5EF4-FFF2-40B4-BE49-F238E27FC236}">
                <a16:creationId xmlns:a16="http://schemas.microsoft.com/office/drawing/2014/main" id="{E5690F28-7CE7-4D1A-B6F0-9137C9DD81DD}"/>
              </a:ext>
            </a:extLst>
          </p:cNvPr>
          <p:cNvSpPr>
            <a:spLocks xmlns:a="http://schemas.openxmlformats.org/drawingml/2006/main" noGrp="1"/>
          </p:cNvSpPr>
          <p:nvPr/>
        </p:nvSpPr>
        <p:spPr>
          <a:xfrm xmlns:a="http://schemas.openxmlformats.org/drawingml/2006/main">
            <a:off x="723900" y="5200650"/>
            <a:ext cx="266700" cy="266700"/>
          </a:xfrm>
          <a:prstGeom xmlns:a="http://schemas.openxmlformats.org/drawingml/2006/main" prst="ellipse">
            <a:avLst/>
          </a:prstGeom>
          <a:solidFill xmlns:a="http://schemas.openxmlformats.org/drawingml/2006/main">
            <a:srgbClr val="087E80"/>
          </a:solidFill>
          <a:ln xmlns:a="http://schemas.openxmlformats.org/drawingml/2006/main" w="0">
            <a:solidFill>
              <a:srgbClr val="087E80"/>
            </a:solidFill>
            <a:prstDash val="solid"/>
          </a:ln>
        </p:spPr>
      </p:sp>
      <p:sp>
        <p:nvSpPr>
          <p:cNvPr id="23" name="">
            <a:extLst xmlns:a="http://schemas.openxmlformats.org/drawingml/2006/main">
              <a:ext uri="{FF2B5EF4-FFF2-40B4-BE49-F238E27FC236}">
                <a16:creationId xmlns:a16="http://schemas.microsoft.com/office/drawing/2014/main" id="{ED4E9BFD-1DD3-46E2-968B-5A7BBE68AD50}"/>
              </a:ext>
            </a:extLst>
          </p:cNvPr>
          <p:cNvSpPr>
            <a:spLocks xmlns:a="http://schemas.openxmlformats.org/drawingml/2006/main" noGrp="1"/>
          </p:cNvSpPr>
          <p:nvPr/>
        </p:nvSpPr>
        <p:spPr>
          <a:xfrm xmlns:a="http://schemas.openxmlformats.org/drawingml/2006/main">
            <a:off x="723900" y="5229225"/>
            <a:ext cx="2667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1">
                <a:solidFill>
                  <a:srgbClr val="FFFFFF"/>
                </a:solidFill>
                <a:latin typeface="Arial"/>
                <a:ea typeface="Arial"/>
                <a:cs typeface="Arial"/>
              </a:defRPr>
            </a:pPr>
            <a:r>
              <a:rPr sz="900" b="1">
                <a:solidFill>
                  <a:srgbClr val="FFFFFF"/>
                </a:solidFill>
                <a:latin typeface="Arial"/>
                <a:ea typeface="Arial"/>
                <a:cs typeface="Arial"/>
              </a:rPr>
              <a:t>01</a:t>
            </a:r>
          </a:p>
        </p:txBody>
      </p:sp>
      <p:sp>
        <p:nvSpPr>
          <p:cNvPr id="24" name="">
            <a:extLst xmlns:a="http://schemas.openxmlformats.org/drawingml/2006/main">
              <a:ext uri="{FF2B5EF4-FFF2-40B4-BE49-F238E27FC236}">
                <a16:creationId xmlns:a16="http://schemas.microsoft.com/office/drawing/2014/main" id="{FEF6761E-0578-41E5-ABF9-E5670A20A497}"/>
              </a:ext>
            </a:extLst>
          </p:cNvPr>
          <p:cNvSpPr>
            <a:spLocks xmlns:a="http://schemas.openxmlformats.org/drawingml/2006/main" noGrp="1"/>
          </p:cNvSpPr>
          <p:nvPr/>
        </p:nvSpPr>
        <p:spPr>
          <a:xfrm xmlns:a="http://schemas.openxmlformats.org/drawingml/2006/main">
            <a:off x="1085850" y="520065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72B3C"/>
                </a:solidFill>
                <a:latin typeface="Arial"/>
                <a:ea typeface="Arial"/>
                <a:cs typeface="Arial"/>
              </a:defRPr>
            </a:pPr>
            <a:r>
              <a:rPr sz="1350" b="1">
                <a:solidFill>
                  <a:srgbClr val="172B3C"/>
                </a:solidFill>
                <a:latin typeface="Arial"/>
                <a:ea typeface="Arial"/>
                <a:cs typeface="Arial"/>
              </a:rPr>
              <a:t>Align &amp; label</a:t>
            </a:r>
          </a:p>
        </p:txBody>
      </p:sp>
      <p:sp>
        <p:nvSpPr>
          <p:cNvPr id="25" name="">
            <a:extLst xmlns:a="http://schemas.openxmlformats.org/drawingml/2006/main">
              <a:ext uri="{FF2B5EF4-FFF2-40B4-BE49-F238E27FC236}">
                <a16:creationId xmlns:a16="http://schemas.microsoft.com/office/drawing/2014/main" id="{BC79EC08-8CB2-49F6-A971-E2DE1B6F890B}"/>
              </a:ext>
            </a:extLst>
          </p:cNvPr>
          <p:cNvSpPr>
            <a:spLocks xmlns:a="http://schemas.openxmlformats.org/drawingml/2006/main" noGrp="1"/>
          </p:cNvSpPr>
          <p:nvPr/>
        </p:nvSpPr>
        <p:spPr>
          <a:xfrm xmlns:a="http://schemas.openxmlformats.org/drawingml/2006/main">
            <a:off x="2552700" y="5334000"/>
            <a:ext cx="161925" cy="0"/>
          </a:xfrm>
          <a:prstGeom xmlns:a="http://schemas.openxmlformats.org/drawingml/2006/main" prst="line">
            <a:avLst/>
          </a:prstGeom>
          <a:noFill xmlns:a="http://schemas.openxmlformats.org/drawingml/2006/main"/>
          <a:ln xmlns:a="http://schemas.openxmlformats.org/drawingml/2006/main" w="19050">
            <a:solidFill>
              <a:srgbClr val="D8E1E7"/>
            </a:solidFill>
            <a:prstDash val="solid"/>
          </a:ln>
        </p:spPr>
      </p:sp>
      <p:sp>
        <p:nvSpPr>
          <p:cNvPr id="26" name="">
            <a:extLst xmlns:a="http://schemas.openxmlformats.org/drawingml/2006/main">
              <a:ext uri="{FF2B5EF4-FFF2-40B4-BE49-F238E27FC236}">
                <a16:creationId xmlns:a16="http://schemas.microsoft.com/office/drawing/2014/main" id="{F518BCE6-3399-4821-B503-F37B73807F77}"/>
              </a:ext>
            </a:extLst>
          </p:cNvPr>
          <p:cNvSpPr>
            <a:spLocks xmlns:a="http://schemas.openxmlformats.org/drawingml/2006/main" noGrp="1"/>
          </p:cNvSpPr>
          <p:nvPr/>
        </p:nvSpPr>
        <p:spPr>
          <a:xfrm xmlns:a="http://schemas.openxmlformats.org/drawingml/2006/main">
            <a:off x="2857500" y="5200650"/>
            <a:ext cx="266700" cy="266700"/>
          </a:xfrm>
          <a:prstGeom xmlns:a="http://schemas.openxmlformats.org/drawingml/2006/main" prst="ellipse">
            <a:avLst/>
          </a:prstGeom>
          <a:solidFill xmlns:a="http://schemas.openxmlformats.org/drawingml/2006/main">
            <a:srgbClr val="087E80"/>
          </a:solidFill>
          <a:ln xmlns:a="http://schemas.openxmlformats.org/drawingml/2006/main" w="0">
            <a:solidFill>
              <a:srgbClr val="087E80"/>
            </a:solidFill>
            <a:prstDash val="solid"/>
          </a:ln>
        </p:spPr>
      </p:sp>
      <p:sp>
        <p:nvSpPr>
          <p:cNvPr id="27" name="">
            <a:extLst xmlns:a="http://schemas.openxmlformats.org/drawingml/2006/main">
              <a:ext uri="{FF2B5EF4-FFF2-40B4-BE49-F238E27FC236}">
                <a16:creationId xmlns:a16="http://schemas.microsoft.com/office/drawing/2014/main" id="{85279A71-A782-43C9-80FF-466A7E330DFE}"/>
              </a:ext>
            </a:extLst>
          </p:cNvPr>
          <p:cNvSpPr>
            <a:spLocks xmlns:a="http://schemas.openxmlformats.org/drawingml/2006/main" noGrp="1"/>
          </p:cNvSpPr>
          <p:nvPr/>
        </p:nvSpPr>
        <p:spPr>
          <a:xfrm xmlns:a="http://schemas.openxmlformats.org/drawingml/2006/main">
            <a:off x="2857500" y="5229225"/>
            <a:ext cx="2667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1">
                <a:solidFill>
                  <a:srgbClr val="FFFFFF"/>
                </a:solidFill>
                <a:latin typeface="Arial"/>
                <a:ea typeface="Arial"/>
                <a:cs typeface="Arial"/>
              </a:defRPr>
            </a:pPr>
            <a:r>
              <a:rPr sz="900" b="1">
                <a:solidFill>
                  <a:srgbClr val="FFFFFF"/>
                </a:solidFill>
                <a:latin typeface="Arial"/>
                <a:ea typeface="Arial"/>
                <a:cs typeface="Arial"/>
              </a:rPr>
              <a:t>02</a:t>
            </a:r>
          </a:p>
        </p:txBody>
      </p:sp>
      <p:sp>
        <p:nvSpPr>
          <p:cNvPr id="28" name="">
            <a:extLst xmlns:a="http://schemas.openxmlformats.org/drawingml/2006/main">
              <a:ext uri="{FF2B5EF4-FFF2-40B4-BE49-F238E27FC236}">
                <a16:creationId xmlns:a16="http://schemas.microsoft.com/office/drawing/2014/main" id="{3FC30F8B-4BD4-4E69-A64F-E1CC19D2D248}"/>
              </a:ext>
            </a:extLst>
          </p:cNvPr>
          <p:cNvSpPr>
            <a:spLocks xmlns:a="http://schemas.openxmlformats.org/drawingml/2006/main" noGrp="1"/>
          </p:cNvSpPr>
          <p:nvPr/>
        </p:nvSpPr>
        <p:spPr>
          <a:xfrm xmlns:a="http://schemas.openxmlformats.org/drawingml/2006/main">
            <a:off x="3219450" y="520065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6814"/>
          </a:bodyPr>
          <a:lstStyle xmlns:a="http://schemas.openxmlformats.org/drawingml/2006/main"/>
          <a:p xmlns:a="http://schemas.openxmlformats.org/drawingml/2006/main">
            <a:pPr algn="l">
              <a:defRPr sz="1350" b="1">
                <a:solidFill>
                  <a:srgbClr val="172B3C"/>
                </a:solidFill>
                <a:latin typeface="Arial"/>
                <a:ea typeface="Arial"/>
                <a:cs typeface="Arial"/>
              </a:defRPr>
            </a:pPr>
            <a:r>
              <a:rPr sz="1350" b="1">
                <a:solidFill>
                  <a:srgbClr val="172B3C"/>
                </a:solidFill>
                <a:latin typeface="Arial"/>
                <a:ea typeface="Arial"/>
                <a:cs typeface="Arial"/>
              </a:rPr>
              <a:t>Build per-type baselines</a:t>
            </a:r>
          </a:p>
        </p:txBody>
      </p:sp>
      <p:sp>
        <p:nvSpPr>
          <p:cNvPr id="29" name="">
            <a:extLst xmlns:a="http://schemas.openxmlformats.org/drawingml/2006/main">
              <a:ext uri="{FF2B5EF4-FFF2-40B4-BE49-F238E27FC236}">
                <a16:creationId xmlns:a16="http://schemas.microsoft.com/office/drawing/2014/main" id="{FD9A8065-9439-421C-BFC0-89209A797370}"/>
              </a:ext>
            </a:extLst>
          </p:cNvPr>
          <p:cNvSpPr>
            <a:spLocks xmlns:a="http://schemas.openxmlformats.org/drawingml/2006/main" noGrp="1"/>
          </p:cNvSpPr>
          <p:nvPr/>
        </p:nvSpPr>
        <p:spPr>
          <a:xfrm xmlns:a="http://schemas.openxmlformats.org/drawingml/2006/main">
            <a:off x="4686300" y="5334000"/>
            <a:ext cx="161925" cy="0"/>
          </a:xfrm>
          <a:prstGeom xmlns:a="http://schemas.openxmlformats.org/drawingml/2006/main" prst="line">
            <a:avLst/>
          </a:prstGeom>
          <a:noFill xmlns:a="http://schemas.openxmlformats.org/drawingml/2006/main"/>
          <a:ln xmlns:a="http://schemas.openxmlformats.org/drawingml/2006/main" w="19050">
            <a:solidFill>
              <a:srgbClr val="D8E1E7"/>
            </a:solidFill>
            <a:prstDash val="solid"/>
          </a:ln>
        </p:spPr>
      </p:sp>
      <p:sp>
        <p:nvSpPr>
          <p:cNvPr id="30" name="">
            <a:extLst xmlns:a="http://schemas.openxmlformats.org/drawingml/2006/main">
              <a:ext uri="{FF2B5EF4-FFF2-40B4-BE49-F238E27FC236}">
                <a16:creationId xmlns:a16="http://schemas.microsoft.com/office/drawing/2014/main" id="{CE03E046-0DA3-4336-8029-13D0A047DB0F}"/>
              </a:ext>
            </a:extLst>
          </p:cNvPr>
          <p:cNvSpPr>
            <a:spLocks xmlns:a="http://schemas.openxmlformats.org/drawingml/2006/main" noGrp="1"/>
          </p:cNvSpPr>
          <p:nvPr/>
        </p:nvSpPr>
        <p:spPr>
          <a:xfrm xmlns:a="http://schemas.openxmlformats.org/drawingml/2006/main">
            <a:off x="4991100" y="5200650"/>
            <a:ext cx="266700" cy="266700"/>
          </a:xfrm>
          <a:prstGeom xmlns:a="http://schemas.openxmlformats.org/drawingml/2006/main" prst="ellipse">
            <a:avLst/>
          </a:prstGeom>
          <a:solidFill xmlns:a="http://schemas.openxmlformats.org/drawingml/2006/main">
            <a:srgbClr val="087E80"/>
          </a:solidFill>
          <a:ln xmlns:a="http://schemas.openxmlformats.org/drawingml/2006/main" w="0">
            <a:solidFill>
              <a:srgbClr val="087E80"/>
            </a:solidFill>
            <a:prstDash val="solid"/>
          </a:ln>
        </p:spPr>
      </p:sp>
      <p:sp>
        <p:nvSpPr>
          <p:cNvPr id="31" name="">
            <a:extLst xmlns:a="http://schemas.openxmlformats.org/drawingml/2006/main">
              <a:ext uri="{FF2B5EF4-FFF2-40B4-BE49-F238E27FC236}">
                <a16:creationId xmlns:a16="http://schemas.microsoft.com/office/drawing/2014/main" id="{754B4830-9510-496A-A8C3-74B48F06C294}"/>
              </a:ext>
            </a:extLst>
          </p:cNvPr>
          <p:cNvSpPr>
            <a:spLocks xmlns:a="http://schemas.openxmlformats.org/drawingml/2006/main" noGrp="1"/>
          </p:cNvSpPr>
          <p:nvPr/>
        </p:nvSpPr>
        <p:spPr>
          <a:xfrm xmlns:a="http://schemas.openxmlformats.org/drawingml/2006/main">
            <a:off x="4991100" y="5229225"/>
            <a:ext cx="2667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1">
                <a:solidFill>
                  <a:srgbClr val="FFFFFF"/>
                </a:solidFill>
                <a:latin typeface="Arial"/>
                <a:ea typeface="Arial"/>
                <a:cs typeface="Arial"/>
              </a:defRPr>
            </a:pPr>
            <a:r>
              <a:rPr sz="900" b="1">
                <a:solidFill>
                  <a:srgbClr val="FFFFFF"/>
                </a:solidFill>
                <a:latin typeface="Arial"/>
                <a:ea typeface="Arial"/>
                <a:cs typeface="Arial"/>
              </a:rPr>
              <a:t>03</a:t>
            </a:r>
          </a:p>
        </p:txBody>
      </p:sp>
      <p:sp>
        <p:nvSpPr>
          <p:cNvPr id="32" name="">
            <a:extLst xmlns:a="http://schemas.openxmlformats.org/drawingml/2006/main">
              <a:ext uri="{FF2B5EF4-FFF2-40B4-BE49-F238E27FC236}">
                <a16:creationId xmlns:a16="http://schemas.microsoft.com/office/drawing/2014/main" id="{FF95D4E2-CF0B-4C2C-8C82-519CDCE7265B}"/>
              </a:ext>
            </a:extLst>
          </p:cNvPr>
          <p:cNvSpPr>
            <a:spLocks xmlns:a="http://schemas.openxmlformats.org/drawingml/2006/main" noGrp="1"/>
          </p:cNvSpPr>
          <p:nvPr/>
        </p:nvSpPr>
        <p:spPr>
          <a:xfrm xmlns:a="http://schemas.openxmlformats.org/drawingml/2006/main">
            <a:off x="5353050" y="520065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72B3C"/>
                </a:solidFill>
                <a:latin typeface="Arial"/>
                <a:ea typeface="Arial"/>
                <a:cs typeface="Arial"/>
              </a:defRPr>
            </a:pPr>
            <a:r>
              <a:rPr sz="1350" b="1">
                <a:solidFill>
                  <a:srgbClr val="172B3C"/>
                </a:solidFill>
                <a:latin typeface="Arial"/>
                <a:ea typeface="Arial"/>
                <a:cs typeface="Arial"/>
              </a:rPr>
              <a:t>Train / compare</a:t>
            </a:r>
          </a:p>
        </p:txBody>
      </p:sp>
      <p:sp>
        <p:nvSpPr>
          <p:cNvPr id="33" name="">
            <a:extLst xmlns:a="http://schemas.openxmlformats.org/drawingml/2006/main">
              <a:ext uri="{FF2B5EF4-FFF2-40B4-BE49-F238E27FC236}">
                <a16:creationId xmlns:a16="http://schemas.microsoft.com/office/drawing/2014/main" id="{AC2400D6-B93D-4933-B92A-4657A5AC33EC}"/>
              </a:ext>
            </a:extLst>
          </p:cNvPr>
          <p:cNvSpPr>
            <a:spLocks xmlns:a="http://schemas.openxmlformats.org/drawingml/2006/main" noGrp="1"/>
          </p:cNvSpPr>
          <p:nvPr/>
        </p:nvSpPr>
        <p:spPr>
          <a:xfrm xmlns:a="http://schemas.openxmlformats.org/drawingml/2006/main">
            <a:off x="6819900" y="5334000"/>
            <a:ext cx="161925" cy="0"/>
          </a:xfrm>
          <a:prstGeom xmlns:a="http://schemas.openxmlformats.org/drawingml/2006/main" prst="line">
            <a:avLst/>
          </a:prstGeom>
          <a:noFill xmlns:a="http://schemas.openxmlformats.org/drawingml/2006/main"/>
          <a:ln xmlns:a="http://schemas.openxmlformats.org/drawingml/2006/main" w="19050">
            <a:solidFill>
              <a:srgbClr val="D8E1E7"/>
            </a:solidFill>
            <a:prstDash val="solid"/>
          </a:ln>
        </p:spPr>
      </p:sp>
      <p:sp>
        <p:nvSpPr>
          <p:cNvPr id="34" name="">
            <a:extLst xmlns:a="http://schemas.openxmlformats.org/drawingml/2006/main">
              <a:ext uri="{FF2B5EF4-FFF2-40B4-BE49-F238E27FC236}">
                <a16:creationId xmlns:a16="http://schemas.microsoft.com/office/drawing/2014/main" id="{9C98BF10-6D34-4FFF-AC98-577616E88885}"/>
              </a:ext>
            </a:extLst>
          </p:cNvPr>
          <p:cNvSpPr>
            <a:spLocks xmlns:a="http://schemas.openxmlformats.org/drawingml/2006/main" noGrp="1"/>
          </p:cNvSpPr>
          <p:nvPr/>
        </p:nvSpPr>
        <p:spPr>
          <a:xfrm xmlns:a="http://schemas.openxmlformats.org/drawingml/2006/main">
            <a:off x="7124700" y="5200650"/>
            <a:ext cx="266700" cy="266700"/>
          </a:xfrm>
          <a:prstGeom xmlns:a="http://schemas.openxmlformats.org/drawingml/2006/main" prst="ellipse">
            <a:avLst/>
          </a:prstGeom>
          <a:solidFill xmlns:a="http://schemas.openxmlformats.org/drawingml/2006/main">
            <a:srgbClr val="087E80"/>
          </a:solidFill>
          <a:ln xmlns:a="http://schemas.openxmlformats.org/drawingml/2006/main" w="0">
            <a:solidFill>
              <a:srgbClr val="087E80"/>
            </a:solidFill>
            <a:prstDash val="solid"/>
          </a:ln>
        </p:spPr>
      </p:sp>
      <p:sp>
        <p:nvSpPr>
          <p:cNvPr id="35" name="">
            <a:extLst xmlns:a="http://schemas.openxmlformats.org/drawingml/2006/main">
              <a:ext uri="{FF2B5EF4-FFF2-40B4-BE49-F238E27FC236}">
                <a16:creationId xmlns:a16="http://schemas.microsoft.com/office/drawing/2014/main" id="{4723DA07-F02E-44DF-AD08-DFA9CD9C602A}"/>
              </a:ext>
            </a:extLst>
          </p:cNvPr>
          <p:cNvSpPr>
            <a:spLocks xmlns:a="http://schemas.openxmlformats.org/drawingml/2006/main" noGrp="1"/>
          </p:cNvSpPr>
          <p:nvPr/>
        </p:nvSpPr>
        <p:spPr>
          <a:xfrm xmlns:a="http://schemas.openxmlformats.org/drawingml/2006/main">
            <a:off x="7124700" y="5229225"/>
            <a:ext cx="2667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1">
                <a:solidFill>
                  <a:srgbClr val="FFFFFF"/>
                </a:solidFill>
                <a:latin typeface="Arial"/>
                <a:ea typeface="Arial"/>
                <a:cs typeface="Arial"/>
              </a:defRPr>
            </a:pPr>
            <a:r>
              <a:rPr sz="900" b="1">
                <a:solidFill>
                  <a:srgbClr val="FFFFFF"/>
                </a:solidFill>
                <a:latin typeface="Arial"/>
                <a:ea typeface="Arial"/>
                <a:cs typeface="Arial"/>
              </a:rPr>
              <a:t>04</a:t>
            </a:r>
          </a:p>
        </p:txBody>
      </p:sp>
      <p:sp>
        <p:nvSpPr>
          <p:cNvPr id="36" name="">
            <a:extLst xmlns:a="http://schemas.openxmlformats.org/drawingml/2006/main">
              <a:ext uri="{FF2B5EF4-FFF2-40B4-BE49-F238E27FC236}">
                <a16:creationId xmlns:a16="http://schemas.microsoft.com/office/drawing/2014/main" id="{AEF72C4F-07D3-46EC-AF61-506626214CE8}"/>
              </a:ext>
            </a:extLst>
          </p:cNvPr>
          <p:cNvSpPr>
            <a:spLocks xmlns:a="http://schemas.openxmlformats.org/drawingml/2006/main" noGrp="1"/>
          </p:cNvSpPr>
          <p:nvPr/>
        </p:nvSpPr>
        <p:spPr>
          <a:xfrm xmlns:a="http://schemas.openxmlformats.org/drawingml/2006/main">
            <a:off x="7486650" y="520065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1736"/>
          </a:bodyPr>
          <a:lstStyle xmlns:a="http://schemas.openxmlformats.org/drawingml/2006/main"/>
          <a:p xmlns:a="http://schemas.openxmlformats.org/drawingml/2006/main">
            <a:pPr algn="l">
              <a:defRPr sz="1350" b="1">
                <a:solidFill>
                  <a:srgbClr val="172B3C"/>
                </a:solidFill>
                <a:latin typeface="Arial"/>
                <a:ea typeface="Arial"/>
                <a:cs typeface="Arial"/>
              </a:defRPr>
            </a:pPr>
            <a:r>
              <a:rPr sz="1350" b="1">
                <a:solidFill>
                  <a:srgbClr val="172B3C"/>
                </a:solidFill>
                <a:latin typeface="Arial"/>
                <a:ea typeface="Arial"/>
                <a:cs typeface="Arial"/>
              </a:rPr>
              <a:t>Validate by aircraft &amp; time</a:t>
            </a:r>
          </a:p>
        </p:txBody>
      </p:sp>
      <p:sp>
        <p:nvSpPr>
          <p:cNvPr id="37" name="">
            <a:extLst xmlns:a="http://schemas.openxmlformats.org/drawingml/2006/main">
              <a:ext uri="{FF2B5EF4-FFF2-40B4-BE49-F238E27FC236}">
                <a16:creationId xmlns:a16="http://schemas.microsoft.com/office/drawing/2014/main" id="{2DC555AC-1F22-4752-9B48-2FA21237B75A}"/>
              </a:ext>
            </a:extLst>
          </p:cNvPr>
          <p:cNvSpPr>
            <a:spLocks xmlns:a="http://schemas.openxmlformats.org/drawingml/2006/main" noGrp="1"/>
          </p:cNvSpPr>
          <p:nvPr/>
        </p:nvSpPr>
        <p:spPr>
          <a:xfrm xmlns:a="http://schemas.openxmlformats.org/drawingml/2006/main">
            <a:off x="8953500" y="5334000"/>
            <a:ext cx="161925" cy="0"/>
          </a:xfrm>
          <a:prstGeom xmlns:a="http://schemas.openxmlformats.org/drawingml/2006/main" prst="line">
            <a:avLst/>
          </a:prstGeom>
          <a:noFill xmlns:a="http://schemas.openxmlformats.org/drawingml/2006/main"/>
          <a:ln xmlns:a="http://schemas.openxmlformats.org/drawingml/2006/main" w="19050">
            <a:solidFill>
              <a:srgbClr val="D8E1E7"/>
            </a:solidFill>
            <a:prstDash val="solid"/>
          </a:ln>
        </p:spPr>
      </p:sp>
      <p:sp>
        <p:nvSpPr>
          <p:cNvPr id="38" name="">
            <a:extLst xmlns:a="http://schemas.openxmlformats.org/drawingml/2006/main">
              <a:ext uri="{FF2B5EF4-FFF2-40B4-BE49-F238E27FC236}">
                <a16:creationId xmlns:a16="http://schemas.microsoft.com/office/drawing/2014/main" id="{46E17754-58B4-4377-A76C-D20C33B8EB2B}"/>
              </a:ext>
            </a:extLst>
          </p:cNvPr>
          <p:cNvSpPr>
            <a:spLocks xmlns:a="http://schemas.openxmlformats.org/drawingml/2006/main" noGrp="1"/>
          </p:cNvSpPr>
          <p:nvPr/>
        </p:nvSpPr>
        <p:spPr>
          <a:xfrm xmlns:a="http://schemas.openxmlformats.org/drawingml/2006/main">
            <a:off x="9258300" y="5200650"/>
            <a:ext cx="266700" cy="266700"/>
          </a:xfrm>
          <a:prstGeom xmlns:a="http://schemas.openxmlformats.org/drawingml/2006/main" prst="ellipse">
            <a:avLst/>
          </a:prstGeom>
          <a:solidFill xmlns:a="http://schemas.openxmlformats.org/drawingml/2006/main">
            <a:srgbClr val="C77B19"/>
          </a:solidFill>
          <a:ln xmlns:a="http://schemas.openxmlformats.org/drawingml/2006/main" w="0">
            <a:solidFill>
              <a:srgbClr val="C77B19"/>
            </a:solidFill>
            <a:prstDash val="solid"/>
          </a:ln>
        </p:spPr>
      </p:sp>
      <p:sp>
        <p:nvSpPr>
          <p:cNvPr id="39" name="">
            <a:extLst xmlns:a="http://schemas.openxmlformats.org/drawingml/2006/main">
              <a:ext uri="{FF2B5EF4-FFF2-40B4-BE49-F238E27FC236}">
                <a16:creationId xmlns:a16="http://schemas.microsoft.com/office/drawing/2014/main" id="{D78D8BFE-58B1-4D4F-BCE6-8F3E7CDF9200}"/>
              </a:ext>
            </a:extLst>
          </p:cNvPr>
          <p:cNvSpPr>
            <a:spLocks xmlns:a="http://schemas.openxmlformats.org/drawingml/2006/main" noGrp="1"/>
          </p:cNvSpPr>
          <p:nvPr/>
        </p:nvSpPr>
        <p:spPr>
          <a:xfrm xmlns:a="http://schemas.openxmlformats.org/drawingml/2006/main">
            <a:off x="9258300" y="5229225"/>
            <a:ext cx="2667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1">
                <a:solidFill>
                  <a:srgbClr val="FFFFFF"/>
                </a:solidFill>
                <a:latin typeface="Arial"/>
                <a:ea typeface="Arial"/>
                <a:cs typeface="Arial"/>
              </a:defRPr>
            </a:pPr>
            <a:r>
              <a:rPr sz="900" b="1">
                <a:solidFill>
                  <a:srgbClr val="FFFFFF"/>
                </a:solidFill>
                <a:latin typeface="Arial"/>
                <a:ea typeface="Arial"/>
                <a:cs typeface="Arial"/>
              </a:rPr>
              <a:t>05</a:t>
            </a:r>
          </a:p>
        </p:txBody>
      </p:sp>
      <p:sp>
        <p:nvSpPr>
          <p:cNvPr id="40" name="">
            <a:extLst xmlns:a="http://schemas.openxmlformats.org/drawingml/2006/main">
              <a:ext uri="{FF2B5EF4-FFF2-40B4-BE49-F238E27FC236}">
                <a16:creationId xmlns:a16="http://schemas.microsoft.com/office/drawing/2014/main" id="{D9A4194B-42F3-4A71-849B-3756855A7632}"/>
              </a:ext>
            </a:extLst>
          </p:cNvPr>
          <p:cNvSpPr>
            <a:spLocks xmlns:a="http://schemas.openxmlformats.org/drawingml/2006/main" noGrp="1"/>
          </p:cNvSpPr>
          <p:nvPr/>
        </p:nvSpPr>
        <p:spPr>
          <a:xfrm xmlns:a="http://schemas.openxmlformats.org/drawingml/2006/main">
            <a:off x="9620250" y="520065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1636"/>
          </a:bodyPr>
          <a:lstStyle xmlns:a="http://schemas.openxmlformats.org/drawingml/2006/main"/>
          <a:p xmlns:a="http://schemas.openxmlformats.org/drawingml/2006/main">
            <a:pPr algn="l">
              <a:defRPr sz="1350" b="1">
                <a:solidFill>
                  <a:srgbClr val="172B3C"/>
                </a:solidFill>
                <a:latin typeface="Arial"/>
                <a:ea typeface="Arial"/>
                <a:cs typeface="Arial"/>
              </a:defRPr>
            </a:pPr>
            <a:r>
              <a:rPr sz="1350" b="1">
                <a:solidFill>
                  <a:srgbClr val="172B3C"/>
                </a:solidFill>
                <a:latin typeface="Arial"/>
                <a:ea typeface="Arial"/>
                <a:cs typeface="Arial"/>
              </a:rPr>
              <a:t>Pilot with engineer review</a:t>
            </a:r>
          </a:p>
        </p:txBody>
      </p:sp>
      <p:sp>
        <p:nvSpPr>
          <p:cNvPr id="41" name="">
            <a:extLst xmlns:a="http://schemas.openxmlformats.org/drawingml/2006/main">
              <a:ext uri="{FF2B5EF4-FFF2-40B4-BE49-F238E27FC236}">
                <a16:creationId xmlns:a16="http://schemas.microsoft.com/office/drawing/2014/main" id="{295C178E-5C51-4D7D-AD64-92F7E30E0089}"/>
              </a:ext>
            </a:extLst>
          </p:cNvPr>
          <p:cNvSpPr>
            <a:spLocks xmlns:a="http://schemas.openxmlformats.org/drawingml/2006/main" noGrp="1"/>
          </p:cNvSpPr>
          <p:nvPr/>
        </p:nvSpPr>
        <p:spPr>
          <a:xfrm xmlns:a="http://schemas.openxmlformats.org/drawingml/2006/main">
            <a:off x="552450" y="5886450"/>
            <a:ext cx="1085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5E7282"/>
                </a:solidFill>
                <a:latin typeface="Arial"/>
                <a:ea typeface="Arial"/>
                <a:cs typeface="Arial"/>
              </a:defRPr>
            </a:pPr>
            <a:r>
              <a:rPr sz="1275" b="0">
                <a:solidFill>
                  <a:srgbClr val="5E7282"/>
                </a:solidFill>
                <a:latin typeface="Arial"/>
                <a:ea typeface="Arial"/>
                <a:cs typeface="Arial"/>
              </a:rPr>
              <a:t>Validation: split by aircraft and time; report false-alert rate, precision/recall, RUL error, lead time and engineer acceptance.</a:t>
            </a:r>
          </a:p>
        </p:txBody>
      </p:sp>
    </p:spTree>
    <p:extLst>
      <p:ext uri="{BB962C8B-B14F-4D97-AF65-F5344CB8AC3E}">
        <p14:creationId xmlns:p14="http://schemas.microsoft.com/office/powerpoint/2010/main" val="92511024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F7385369-DA92-4F52-9C04-524A94BBB888}"/>
              </a:ext>
            </a:extLst>
          </p:cNvPr>
          <p:cNvSpPr>
            <a:spLocks xmlns:a="http://schemas.openxmlformats.org/drawingml/2006/main" noGrp="1"/>
          </p:cNvSpPr>
          <p:nvPr/>
        </p:nvSpPr>
        <p:spPr>
          <a:xfrm xmlns:a="http://schemas.openxmlformats.org/drawingml/2006/main">
            <a:off x="514350" y="323850"/>
            <a:ext cx="10763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a:solidFill>
                  <a:srgbClr val="10263B"/>
                </a:solidFill>
                <a:latin typeface="Arial"/>
                <a:ea typeface="Arial"/>
                <a:cs typeface="Arial"/>
              </a:defRPr>
            </a:pPr>
            <a:r>
              <a:rPr sz="3150" b="1">
                <a:solidFill>
                  <a:srgbClr val="10263B"/>
                </a:solidFill>
                <a:latin typeface="Arial"/>
                <a:ea typeface="Arial"/>
                <a:cs typeface="Arial"/>
              </a:rPr>
              <a:t>Predictive-maintenance decision workflow</a:t>
            </a:r>
          </a:p>
        </p:txBody>
      </p:sp>
      <p:sp>
        <p:nvSpPr>
          <p:cNvPr id="2" name="">
            <a:extLst xmlns:a="http://schemas.openxmlformats.org/drawingml/2006/main">
              <a:ext uri="{FF2B5EF4-FFF2-40B4-BE49-F238E27FC236}">
                <a16:creationId xmlns:a16="http://schemas.microsoft.com/office/drawing/2014/main" id="{1BCF63B3-EFDF-4644-B062-25B5369B37E9}"/>
              </a:ext>
            </a:extLst>
          </p:cNvPr>
          <p:cNvSpPr>
            <a:spLocks xmlns:a="http://schemas.openxmlformats.org/drawingml/2006/main" noGrp="1"/>
          </p:cNvSpPr>
          <p:nvPr/>
        </p:nvSpPr>
        <p:spPr>
          <a:xfrm xmlns:a="http://schemas.openxmlformats.org/drawingml/2006/main">
            <a:off x="533400" y="8763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5E7282"/>
                </a:solidFill>
                <a:latin typeface="Arial"/>
                <a:ea typeface="Arial"/>
                <a:cs typeface="Arial"/>
              </a:defRPr>
            </a:pPr>
            <a:r>
              <a:rPr sz="1575" b="0">
                <a:solidFill>
                  <a:srgbClr val="5E7282"/>
                </a:solidFill>
                <a:latin typeface="Arial"/>
                <a:ea typeface="Arial"/>
                <a:cs typeface="Arial"/>
              </a:rPr>
              <a:t>Every alert carries evidence, an owner and an auditable next step</a:t>
            </a:r>
          </a:p>
        </p:txBody>
      </p:sp>
      <p:sp>
        <p:nvSpPr>
          <p:cNvPr id="3" name="">
            <a:extLst xmlns:a="http://schemas.openxmlformats.org/drawingml/2006/main">
              <a:ext uri="{FF2B5EF4-FFF2-40B4-BE49-F238E27FC236}">
                <a16:creationId xmlns:a16="http://schemas.microsoft.com/office/drawing/2014/main" id="{CBE9C402-6B0A-4BF1-B56C-C8FBB9BD0FFF}"/>
              </a:ext>
            </a:extLst>
          </p:cNvPr>
          <p:cNvSpPr>
            <a:spLocks xmlns:a="http://schemas.openxmlformats.org/drawingml/2006/main" noGrp="1"/>
          </p:cNvSpPr>
          <p:nvPr/>
        </p:nvSpPr>
        <p:spPr>
          <a:xfrm xmlns:a="http://schemas.openxmlformats.org/drawingml/2006/main">
            <a:off x="514350" y="6334125"/>
            <a:ext cx="11163300" cy="0"/>
          </a:xfrm>
          <a:prstGeom xmlns:a="http://schemas.openxmlformats.org/drawingml/2006/main" prst="line">
            <a:avLst/>
          </a:prstGeom>
          <a:noFill xmlns:a="http://schemas.openxmlformats.org/drawingml/2006/main"/>
          <a:ln xmlns:a="http://schemas.openxmlformats.org/drawingml/2006/main" w="9525">
            <a:solidFill>
              <a:srgbClr val="D8E1E7"/>
            </a:solidFill>
            <a:prstDash val="solid"/>
          </a:ln>
        </p:spPr>
      </p:sp>
      <p:sp>
        <p:nvSpPr>
          <p:cNvPr id="4" name="">
            <a:extLst xmlns:a="http://schemas.openxmlformats.org/drawingml/2006/main">
              <a:ext uri="{FF2B5EF4-FFF2-40B4-BE49-F238E27FC236}">
                <a16:creationId xmlns:a16="http://schemas.microsoft.com/office/drawing/2014/main" id="{83E5D3D9-2295-460A-ABE2-B83D8972E97F}"/>
              </a:ext>
            </a:extLst>
          </p:cNvPr>
          <p:cNvSpPr>
            <a:spLocks xmlns:a="http://schemas.openxmlformats.org/drawingml/2006/main" noGrp="1"/>
          </p:cNvSpPr>
          <p:nvPr/>
        </p:nvSpPr>
        <p:spPr>
          <a:xfrm xmlns:a="http://schemas.openxmlformats.org/drawingml/2006/main">
            <a:off x="514350" y="6448425"/>
            <a:ext cx="7429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5E7282"/>
                </a:solidFill>
                <a:latin typeface="Arial"/>
                <a:ea typeface="Arial"/>
                <a:cs typeface="Arial"/>
              </a:defRPr>
            </a:pPr>
            <a:r>
              <a:rPr sz="900" b="1">
                <a:solidFill>
                  <a:srgbClr val="5E7282"/>
                </a:solidFill>
                <a:latin typeface="Arial"/>
                <a:ea typeface="Arial"/>
                <a:cs typeface="Arial"/>
              </a:rPr>
              <a:t>AIR POWER  /  PREDICTIVE MAINTENANCE TECHNICAL APPROACH</a:t>
            </a:r>
          </a:p>
        </p:txBody>
      </p:sp>
      <p:sp>
        <p:nvSpPr>
          <p:cNvPr id="5" name="">
            <a:extLst xmlns:a="http://schemas.openxmlformats.org/drawingml/2006/main">
              <a:ext uri="{FF2B5EF4-FFF2-40B4-BE49-F238E27FC236}">
                <a16:creationId xmlns:a16="http://schemas.microsoft.com/office/drawing/2014/main" id="{C3C26E2E-0A73-41DA-BD4B-65ADF0F584F9}"/>
              </a:ext>
            </a:extLst>
          </p:cNvPr>
          <p:cNvSpPr>
            <a:spLocks xmlns:a="http://schemas.openxmlformats.org/drawingml/2006/main" noGrp="1"/>
          </p:cNvSpPr>
          <p:nvPr/>
        </p:nvSpPr>
        <p:spPr>
          <a:xfrm xmlns:a="http://schemas.openxmlformats.org/drawingml/2006/main">
            <a:off x="11277600" y="641985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5E7282"/>
                </a:solidFill>
                <a:latin typeface="Arial"/>
                <a:ea typeface="Arial"/>
                <a:cs typeface="Arial"/>
              </a:defRPr>
            </a:pPr>
            <a:r>
              <a:rPr sz="1050" b="1">
                <a:solidFill>
                  <a:srgbClr val="5E7282"/>
                </a:solidFill>
                <a:latin typeface="Arial"/>
                <a:ea typeface="Arial"/>
                <a:cs typeface="Arial"/>
              </a:rPr>
              <a:t>04</a:t>
            </a:r>
          </a:p>
        </p:txBody>
      </p:sp>
      <p:sp>
        <p:nvSpPr>
          <p:cNvPr id="6" name="">
            <a:extLst xmlns:a="http://schemas.openxmlformats.org/drawingml/2006/main">
              <a:ext uri="{FF2B5EF4-FFF2-40B4-BE49-F238E27FC236}">
                <a16:creationId xmlns:a16="http://schemas.microsoft.com/office/drawing/2014/main" id="{E5F8555B-0EA1-4883-9F9E-7B54E6416A1F}"/>
              </a:ext>
            </a:extLst>
          </p:cNvPr>
          <p:cNvSpPr>
            <a:spLocks xmlns:a="http://schemas.openxmlformats.org/drawingml/2006/main" noGrp="1"/>
          </p:cNvSpPr>
          <p:nvPr/>
        </p:nvSpPr>
        <p:spPr>
          <a:xfrm xmlns:a="http://schemas.openxmlformats.org/drawingml/2006/main">
            <a:off x="476250" y="2190750"/>
            <a:ext cx="1952625" cy="1762125"/>
          </a:xfrm>
          <a:prstGeom xmlns:a="http://schemas.openxmlformats.org/drawingml/2006/main" prst="roundRect">
            <a:avLst>
              <a:gd name="adj" fmla="val 6486"/>
            </a:avLst>
          </a:prstGeom>
          <a:solidFill xmlns:a="http://schemas.openxmlformats.org/drawingml/2006/main">
            <a:srgbClr val="F2F6F8"/>
          </a:solidFill>
          <a:ln xmlns:a="http://schemas.openxmlformats.org/drawingml/2006/main" w="9525">
            <a:solidFill>
              <a:srgbClr val="D8E1E7"/>
            </a:solidFill>
            <a:prstDash val="solid"/>
          </a:ln>
        </p:spPr>
      </p:sp>
      <p:sp>
        <p:nvSpPr>
          <p:cNvPr id="7" name="">
            <a:extLst xmlns:a="http://schemas.openxmlformats.org/drawingml/2006/main">
              <a:ext uri="{FF2B5EF4-FFF2-40B4-BE49-F238E27FC236}">
                <a16:creationId xmlns:a16="http://schemas.microsoft.com/office/drawing/2014/main" id="{2650F5ED-4153-4EF7-85CC-609104C3E0FB}"/>
              </a:ext>
            </a:extLst>
          </p:cNvPr>
          <p:cNvSpPr>
            <a:spLocks xmlns:a="http://schemas.openxmlformats.org/drawingml/2006/main" noGrp="1"/>
          </p:cNvSpPr>
          <p:nvPr/>
        </p:nvSpPr>
        <p:spPr>
          <a:xfrm xmlns:a="http://schemas.openxmlformats.org/drawingml/2006/main">
            <a:off x="628650" y="2352675"/>
            <a:ext cx="16478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087E80"/>
                </a:solidFill>
                <a:latin typeface="Arial"/>
                <a:ea typeface="Arial"/>
                <a:cs typeface="Arial"/>
              </a:defRPr>
            </a:pPr>
            <a:r>
              <a:rPr sz="1350" b="1">
                <a:solidFill>
                  <a:srgbClr val="087E80"/>
                </a:solidFill>
                <a:latin typeface="Arial"/>
                <a:ea typeface="Arial"/>
                <a:cs typeface="Arial"/>
              </a:rPr>
              <a:t>MONITOR</a:t>
            </a:r>
          </a:p>
        </p:txBody>
      </p:sp>
      <p:sp>
        <p:nvSpPr>
          <p:cNvPr id="8" name="">
            <a:extLst xmlns:a="http://schemas.openxmlformats.org/drawingml/2006/main">
              <a:ext uri="{FF2B5EF4-FFF2-40B4-BE49-F238E27FC236}">
                <a16:creationId xmlns:a16="http://schemas.microsoft.com/office/drawing/2014/main" id="{811C7C56-F9AA-49BD-9961-B597BA6E83AC}"/>
              </a:ext>
            </a:extLst>
          </p:cNvPr>
          <p:cNvSpPr>
            <a:spLocks xmlns:a="http://schemas.openxmlformats.org/drawingml/2006/main" noGrp="1"/>
          </p:cNvSpPr>
          <p:nvPr/>
        </p:nvSpPr>
        <p:spPr>
          <a:xfrm xmlns:a="http://schemas.openxmlformats.org/drawingml/2006/main">
            <a:off x="628650" y="2771775"/>
            <a:ext cx="164782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172B3C"/>
                </a:solidFill>
                <a:latin typeface="Arial"/>
                <a:ea typeface="Arial"/>
                <a:cs typeface="Arial"/>
              </a:defRPr>
            </a:pPr>
            <a:r>
              <a:rPr sz="1350" b="0">
                <a:solidFill>
                  <a:srgbClr val="172B3C"/>
                </a:solidFill>
                <a:latin typeface="Arial"/>
                <a:ea typeface="Arial"/>
                <a:cs typeface="Arial"/>
              </a:rPr>
              <a:t>Stream sensor trends</a:t>
            </a:r>
          </a:p>
          <a:p xmlns:a="http://schemas.openxmlformats.org/drawingml/2006/main">
            <a:pPr algn="l">
              <a:defRPr sz="1350" b="0">
                <a:solidFill>
                  <a:srgbClr val="172B3C"/>
                </a:solidFill>
                <a:latin typeface="Arial"/>
                <a:ea typeface="Arial"/>
                <a:cs typeface="Arial"/>
              </a:defRPr>
            </a:pPr>
            <a:r>
              <a:rPr sz="1350" b="0">
                <a:solidFill>
                  <a:srgbClr val="172B3C"/>
                </a:solidFill>
                <a:latin typeface="Arial"/>
                <a:ea typeface="Arial"/>
                <a:cs typeface="Arial"/>
              </a:rPr>
              <a:t>Track hours / cycles</a:t>
            </a:r>
          </a:p>
          <a:p xmlns:a="http://schemas.openxmlformats.org/drawingml/2006/main">
            <a:pPr algn="l">
              <a:defRPr sz="1350" b="0">
                <a:solidFill>
                  <a:srgbClr val="172B3C"/>
                </a:solidFill>
                <a:latin typeface="Arial"/>
                <a:ea typeface="Arial"/>
                <a:cs typeface="Arial"/>
              </a:defRPr>
            </a:pPr>
            <a:r>
              <a:rPr sz="1350" b="0">
                <a:solidFill>
                  <a:srgbClr val="172B3C"/>
                </a:solidFill>
                <a:latin typeface="Arial"/>
                <a:ea typeface="Arial"/>
                <a:cs typeface="Arial"/>
              </a:rPr>
              <a:t>Compare by platform</a:t>
            </a:r>
          </a:p>
          <a:p xmlns:a="http://schemas.openxmlformats.org/drawingml/2006/main">
            <a:pPr algn="l">
              <a:defRPr sz="1350" b="0">
                <a:solidFill>
                  <a:srgbClr val="172B3C"/>
                </a:solidFill>
                <a:latin typeface="Arial"/>
                <a:ea typeface="Arial"/>
                <a:cs typeface="Arial"/>
              </a:defRPr>
            </a:pPr>
            <a:r>
              <a:rPr sz="1350" b="0">
                <a:solidFill>
                  <a:srgbClr val="172B3C"/>
                </a:solidFill>
                <a:latin typeface="Arial"/>
                <a:ea typeface="Arial"/>
                <a:cs typeface="Arial"/>
              </a:rPr>
              <a:t>Check data quality</a:t>
            </a:r>
          </a:p>
        </p:txBody>
      </p:sp>
      <p:sp>
        <p:nvSpPr>
          <p:cNvPr id="9" name="">
            <a:extLst xmlns:a="http://schemas.openxmlformats.org/drawingml/2006/main">
              <a:ext uri="{FF2B5EF4-FFF2-40B4-BE49-F238E27FC236}">
                <a16:creationId xmlns:a16="http://schemas.microsoft.com/office/drawing/2014/main" id="{D8F30037-DC6E-4E02-8C22-F2A645344DB3}"/>
              </a:ext>
            </a:extLst>
          </p:cNvPr>
          <p:cNvSpPr>
            <a:spLocks xmlns:a="http://schemas.openxmlformats.org/drawingml/2006/main" noGrp="1"/>
          </p:cNvSpPr>
          <p:nvPr/>
        </p:nvSpPr>
        <p:spPr>
          <a:xfrm xmlns:a="http://schemas.openxmlformats.org/drawingml/2006/main">
            <a:off x="2790825" y="2190750"/>
            <a:ext cx="1952625" cy="1762125"/>
          </a:xfrm>
          <a:prstGeom xmlns:a="http://schemas.openxmlformats.org/drawingml/2006/main" prst="roundRect">
            <a:avLst>
              <a:gd name="adj" fmla="val 6486"/>
            </a:avLst>
          </a:prstGeom>
          <a:solidFill xmlns:a="http://schemas.openxmlformats.org/drawingml/2006/main">
            <a:srgbClr val="FFF2DB"/>
          </a:solidFill>
          <a:ln xmlns:a="http://schemas.openxmlformats.org/drawingml/2006/main" w="9525">
            <a:solidFill>
              <a:srgbClr val="D8E1E7"/>
            </a:solidFill>
            <a:prstDash val="solid"/>
          </a:ln>
        </p:spPr>
      </p:sp>
      <p:sp>
        <p:nvSpPr>
          <p:cNvPr id="10" name="">
            <a:extLst xmlns:a="http://schemas.openxmlformats.org/drawingml/2006/main">
              <a:ext uri="{FF2B5EF4-FFF2-40B4-BE49-F238E27FC236}">
                <a16:creationId xmlns:a16="http://schemas.microsoft.com/office/drawing/2014/main" id="{83E78E50-FB00-4D0A-88B0-08C4C5C9CB1E}"/>
              </a:ext>
            </a:extLst>
          </p:cNvPr>
          <p:cNvSpPr>
            <a:spLocks xmlns:a="http://schemas.openxmlformats.org/drawingml/2006/main" noGrp="1"/>
          </p:cNvSpPr>
          <p:nvPr/>
        </p:nvSpPr>
        <p:spPr>
          <a:xfrm xmlns:a="http://schemas.openxmlformats.org/drawingml/2006/main">
            <a:off x="2943225" y="2352675"/>
            <a:ext cx="16478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C77B19"/>
                </a:solidFill>
                <a:latin typeface="Arial"/>
                <a:ea typeface="Arial"/>
                <a:cs typeface="Arial"/>
              </a:defRPr>
            </a:pPr>
            <a:r>
              <a:rPr sz="1350" b="1">
                <a:solidFill>
                  <a:srgbClr val="C77B19"/>
                </a:solidFill>
                <a:latin typeface="Arial"/>
                <a:ea typeface="Arial"/>
                <a:cs typeface="Arial"/>
              </a:rPr>
              <a:t>TRIAGE</a:t>
            </a:r>
          </a:p>
        </p:txBody>
      </p:sp>
      <p:sp>
        <p:nvSpPr>
          <p:cNvPr id="11" name="">
            <a:extLst xmlns:a="http://schemas.openxmlformats.org/drawingml/2006/main">
              <a:ext uri="{FF2B5EF4-FFF2-40B4-BE49-F238E27FC236}">
                <a16:creationId xmlns:a16="http://schemas.microsoft.com/office/drawing/2014/main" id="{BC79305D-3CA4-4555-8A42-7B8A16BB04A0}"/>
              </a:ext>
            </a:extLst>
          </p:cNvPr>
          <p:cNvSpPr>
            <a:spLocks xmlns:a="http://schemas.openxmlformats.org/drawingml/2006/main" noGrp="1"/>
          </p:cNvSpPr>
          <p:nvPr/>
        </p:nvSpPr>
        <p:spPr>
          <a:xfrm xmlns:a="http://schemas.openxmlformats.org/drawingml/2006/main">
            <a:off x="2943225" y="2771775"/>
            <a:ext cx="164782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172B3C"/>
                </a:solidFill>
                <a:latin typeface="Arial"/>
                <a:ea typeface="Arial"/>
                <a:cs typeface="Arial"/>
              </a:defRPr>
            </a:pPr>
            <a:r>
              <a:rPr sz="1350" b="0">
                <a:solidFill>
                  <a:srgbClr val="172B3C"/>
                </a:solidFill>
                <a:latin typeface="Arial"/>
                <a:ea typeface="Arial"/>
                <a:cs typeface="Arial"/>
              </a:rPr>
              <a:t>Rank health alert</a:t>
            </a:r>
          </a:p>
          <a:p xmlns:a="http://schemas.openxmlformats.org/drawingml/2006/main">
            <a:pPr algn="l">
              <a:defRPr sz="1350" b="0">
                <a:solidFill>
                  <a:srgbClr val="172B3C"/>
                </a:solidFill>
                <a:latin typeface="Arial"/>
                <a:ea typeface="Arial"/>
                <a:cs typeface="Arial"/>
              </a:defRPr>
            </a:pPr>
            <a:r>
              <a:rPr sz="1350" b="0">
                <a:solidFill>
                  <a:srgbClr val="172B3C"/>
                </a:solidFill>
                <a:latin typeface="Arial"/>
                <a:ea typeface="Arial"/>
                <a:cs typeface="Arial"/>
              </a:rPr>
              <a:t>Show signal history</a:t>
            </a:r>
          </a:p>
          <a:p xmlns:a="http://schemas.openxmlformats.org/drawingml/2006/main">
            <a:pPr algn="l">
              <a:defRPr sz="1350" b="0">
                <a:solidFill>
                  <a:srgbClr val="172B3C"/>
                </a:solidFill>
                <a:latin typeface="Arial"/>
                <a:ea typeface="Arial"/>
                <a:cs typeface="Arial"/>
              </a:defRPr>
            </a:pPr>
            <a:r>
              <a:rPr sz="1350" b="0">
                <a:solidFill>
                  <a:srgbClr val="172B3C"/>
                </a:solidFill>
                <a:latin typeface="Arial"/>
                <a:ea typeface="Arial"/>
                <a:cs typeface="Arial"/>
              </a:rPr>
              <a:t>Link defect history</a:t>
            </a:r>
          </a:p>
          <a:p xmlns:a="http://schemas.openxmlformats.org/drawingml/2006/main">
            <a:pPr algn="l">
              <a:defRPr sz="1350" b="0">
                <a:solidFill>
                  <a:srgbClr val="172B3C"/>
                </a:solidFill>
                <a:latin typeface="Arial"/>
                <a:ea typeface="Arial"/>
                <a:cs typeface="Arial"/>
              </a:defRPr>
            </a:pPr>
            <a:r>
              <a:rPr sz="1350" b="0">
                <a:solidFill>
                  <a:srgbClr val="172B3C"/>
                </a:solidFill>
                <a:latin typeface="Arial"/>
                <a:ea typeface="Arial"/>
                <a:cs typeface="Arial"/>
              </a:rPr>
              <a:t>Engineer confirms</a:t>
            </a:r>
          </a:p>
        </p:txBody>
      </p:sp>
      <p:sp>
        <p:nvSpPr>
          <p:cNvPr id="12" name="">
            <a:extLst xmlns:a="http://schemas.openxmlformats.org/drawingml/2006/main">
              <a:ext uri="{FF2B5EF4-FFF2-40B4-BE49-F238E27FC236}">
                <a16:creationId xmlns:a16="http://schemas.microsoft.com/office/drawing/2014/main" id="{A43E06C6-6F1C-4DA1-9A59-20640E075A07}"/>
              </a:ext>
            </a:extLst>
          </p:cNvPr>
          <p:cNvSpPr>
            <a:spLocks xmlns:a="http://schemas.openxmlformats.org/drawingml/2006/main" noGrp="1"/>
          </p:cNvSpPr>
          <p:nvPr/>
        </p:nvSpPr>
        <p:spPr>
          <a:xfrm xmlns:a="http://schemas.openxmlformats.org/drawingml/2006/main">
            <a:off x="5105400" y="2190750"/>
            <a:ext cx="1952625" cy="1762125"/>
          </a:xfrm>
          <a:prstGeom xmlns:a="http://schemas.openxmlformats.org/drawingml/2006/main" prst="roundRect">
            <a:avLst>
              <a:gd name="adj" fmla="val 6486"/>
            </a:avLst>
          </a:prstGeom>
          <a:solidFill xmlns:a="http://schemas.openxmlformats.org/drawingml/2006/main">
            <a:srgbClr val="F2F6F8"/>
          </a:solidFill>
          <a:ln xmlns:a="http://schemas.openxmlformats.org/drawingml/2006/main" w="9525">
            <a:solidFill>
              <a:srgbClr val="D8E1E7"/>
            </a:solidFill>
            <a:prstDash val="solid"/>
          </a:ln>
        </p:spPr>
      </p:sp>
      <p:sp>
        <p:nvSpPr>
          <p:cNvPr id="13" name="">
            <a:extLst xmlns:a="http://schemas.openxmlformats.org/drawingml/2006/main">
              <a:ext uri="{FF2B5EF4-FFF2-40B4-BE49-F238E27FC236}">
                <a16:creationId xmlns:a16="http://schemas.microsoft.com/office/drawing/2014/main" id="{0ED4AC38-EEED-4C83-8197-757A7F66F37D}"/>
              </a:ext>
            </a:extLst>
          </p:cNvPr>
          <p:cNvSpPr>
            <a:spLocks xmlns:a="http://schemas.openxmlformats.org/drawingml/2006/main" noGrp="1"/>
          </p:cNvSpPr>
          <p:nvPr/>
        </p:nvSpPr>
        <p:spPr>
          <a:xfrm xmlns:a="http://schemas.openxmlformats.org/drawingml/2006/main">
            <a:off x="5257800" y="2352675"/>
            <a:ext cx="16478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087E80"/>
                </a:solidFill>
                <a:latin typeface="Arial"/>
                <a:ea typeface="Arial"/>
                <a:cs typeface="Arial"/>
              </a:defRPr>
            </a:pPr>
            <a:r>
              <a:rPr sz="1350" b="1">
                <a:solidFill>
                  <a:srgbClr val="087E80"/>
                </a:solidFill>
                <a:latin typeface="Arial"/>
                <a:ea typeface="Arial"/>
                <a:cs typeface="Arial"/>
              </a:rPr>
              <a:t>PLAN</a:t>
            </a:r>
          </a:p>
        </p:txBody>
      </p:sp>
      <p:sp>
        <p:nvSpPr>
          <p:cNvPr id="14" name="">
            <a:extLst xmlns:a="http://schemas.openxmlformats.org/drawingml/2006/main">
              <a:ext uri="{FF2B5EF4-FFF2-40B4-BE49-F238E27FC236}">
                <a16:creationId xmlns:a16="http://schemas.microsoft.com/office/drawing/2014/main" id="{A6554651-B3B2-4396-A6A6-BF1AB64E24BB}"/>
              </a:ext>
            </a:extLst>
          </p:cNvPr>
          <p:cNvSpPr>
            <a:spLocks xmlns:a="http://schemas.openxmlformats.org/drawingml/2006/main" noGrp="1"/>
          </p:cNvSpPr>
          <p:nvPr/>
        </p:nvSpPr>
        <p:spPr>
          <a:xfrm xmlns:a="http://schemas.openxmlformats.org/drawingml/2006/main">
            <a:off x="5257800" y="2771775"/>
            <a:ext cx="164782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069"/>
          </a:bodyPr>
          <a:lstStyle xmlns:a="http://schemas.openxmlformats.org/drawingml/2006/main"/>
          <a:p xmlns:a="http://schemas.openxmlformats.org/drawingml/2006/main">
            <a:pPr algn="l">
              <a:defRPr sz="1350" b="0">
                <a:solidFill>
                  <a:srgbClr val="172B3C"/>
                </a:solidFill>
                <a:latin typeface="Arial"/>
                <a:ea typeface="Arial"/>
                <a:cs typeface="Arial"/>
              </a:defRPr>
            </a:pPr>
            <a:r>
              <a:rPr sz="1350" b="0">
                <a:solidFill>
                  <a:srgbClr val="172B3C"/>
                </a:solidFill>
                <a:latin typeface="Arial"/>
                <a:ea typeface="Arial"/>
                <a:cs typeface="Arial"/>
              </a:rPr>
              <a:t>Suggest inspection</a:t>
            </a:r>
          </a:p>
          <a:p xmlns:a="http://schemas.openxmlformats.org/drawingml/2006/main">
            <a:pPr algn="l">
              <a:defRPr sz="1350" b="0">
                <a:solidFill>
                  <a:srgbClr val="172B3C"/>
                </a:solidFill>
                <a:latin typeface="Arial"/>
                <a:ea typeface="Arial"/>
                <a:cs typeface="Arial"/>
              </a:defRPr>
            </a:pPr>
            <a:r>
              <a:rPr sz="1350" b="0">
                <a:solidFill>
                  <a:srgbClr val="172B3C"/>
                </a:solidFill>
                <a:latin typeface="Arial"/>
                <a:ea typeface="Arial"/>
                <a:cs typeface="Arial"/>
              </a:rPr>
              <a:t>Estimate time window</a:t>
            </a:r>
          </a:p>
          <a:p xmlns:a="http://schemas.openxmlformats.org/drawingml/2006/main">
            <a:pPr algn="l">
              <a:defRPr sz="1350" b="0">
                <a:solidFill>
                  <a:srgbClr val="172B3C"/>
                </a:solidFill>
                <a:latin typeface="Arial"/>
                <a:ea typeface="Arial"/>
                <a:cs typeface="Arial"/>
              </a:defRPr>
            </a:pPr>
            <a:r>
              <a:rPr sz="1350" b="0">
                <a:solidFill>
                  <a:srgbClr val="172B3C"/>
                </a:solidFill>
                <a:latin typeface="Arial"/>
                <a:ea typeface="Arial"/>
                <a:cs typeface="Arial"/>
              </a:rPr>
              <a:t>Check parts &amp; capacity</a:t>
            </a:r>
          </a:p>
          <a:p xmlns:a="http://schemas.openxmlformats.org/drawingml/2006/main">
            <a:pPr algn="l">
              <a:defRPr sz="1350" b="0">
                <a:solidFill>
                  <a:srgbClr val="172B3C"/>
                </a:solidFill>
                <a:latin typeface="Arial"/>
                <a:ea typeface="Arial"/>
                <a:cs typeface="Arial"/>
              </a:defRPr>
            </a:pPr>
            <a:r>
              <a:rPr sz="1350" b="0">
                <a:solidFill>
                  <a:srgbClr val="172B3C"/>
                </a:solidFill>
                <a:latin typeface="Arial"/>
                <a:ea typeface="Arial"/>
                <a:cs typeface="Arial"/>
              </a:rPr>
              <a:t>Planner approves</a:t>
            </a:r>
          </a:p>
        </p:txBody>
      </p:sp>
      <p:sp>
        <p:nvSpPr>
          <p:cNvPr id="15" name="">
            <a:extLst xmlns:a="http://schemas.openxmlformats.org/drawingml/2006/main">
              <a:ext uri="{FF2B5EF4-FFF2-40B4-BE49-F238E27FC236}">
                <a16:creationId xmlns:a16="http://schemas.microsoft.com/office/drawing/2014/main" id="{8B43A428-65EA-461B-B451-5F107DC5795B}"/>
              </a:ext>
            </a:extLst>
          </p:cNvPr>
          <p:cNvSpPr>
            <a:spLocks xmlns:a="http://schemas.openxmlformats.org/drawingml/2006/main" noGrp="1"/>
          </p:cNvSpPr>
          <p:nvPr/>
        </p:nvSpPr>
        <p:spPr>
          <a:xfrm xmlns:a="http://schemas.openxmlformats.org/drawingml/2006/main">
            <a:off x="7419975" y="2190750"/>
            <a:ext cx="1952625" cy="1762125"/>
          </a:xfrm>
          <a:prstGeom xmlns:a="http://schemas.openxmlformats.org/drawingml/2006/main" prst="roundRect">
            <a:avLst>
              <a:gd name="adj" fmla="val 6486"/>
            </a:avLst>
          </a:prstGeom>
          <a:solidFill xmlns:a="http://schemas.openxmlformats.org/drawingml/2006/main">
            <a:srgbClr val="F2F6F8"/>
          </a:solidFill>
          <a:ln xmlns:a="http://schemas.openxmlformats.org/drawingml/2006/main" w="9525">
            <a:solidFill>
              <a:srgbClr val="D8E1E7"/>
            </a:solidFill>
            <a:prstDash val="solid"/>
          </a:ln>
        </p:spPr>
      </p:sp>
      <p:sp>
        <p:nvSpPr>
          <p:cNvPr id="16" name="">
            <a:extLst xmlns:a="http://schemas.openxmlformats.org/drawingml/2006/main">
              <a:ext uri="{FF2B5EF4-FFF2-40B4-BE49-F238E27FC236}">
                <a16:creationId xmlns:a16="http://schemas.microsoft.com/office/drawing/2014/main" id="{53050076-3C47-4BA4-BFBA-0AED2E2E9445}"/>
              </a:ext>
            </a:extLst>
          </p:cNvPr>
          <p:cNvSpPr>
            <a:spLocks xmlns:a="http://schemas.openxmlformats.org/drawingml/2006/main" noGrp="1"/>
          </p:cNvSpPr>
          <p:nvPr/>
        </p:nvSpPr>
        <p:spPr>
          <a:xfrm xmlns:a="http://schemas.openxmlformats.org/drawingml/2006/main">
            <a:off x="7572375" y="2352675"/>
            <a:ext cx="16478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087E80"/>
                </a:solidFill>
                <a:latin typeface="Arial"/>
                <a:ea typeface="Arial"/>
                <a:cs typeface="Arial"/>
              </a:defRPr>
            </a:pPr>
            <a:r>
              <a:rPr sz="1350" b="1">
                <a:solidFill>
                  <a:srgbClr val="087E80"/>
                </a:solidFill>
                <a:latin typeface="Arial"/>
                <a:ea typeface="Arial"/>
                <a:cs typeface="Arial"/>
              </a:rPr>
              <a:t>EXECUTE</a:t>
            </a:r>
          </a:p>
        </p:txBody>
      </p:sp>
      <p:sp>
        <p:nvSpPr>
          <p:cNvPr id="17" name="">
            <a:extLst xmlns:a="http://schemas.openxmlformats.org/drawingml/2006/main">
              <a:ext uri="{FF2B5EF4-FFF2-40B4-BE49-F238E27FC236}">
                <a16:creationId xmlns:a16="http://schemas.microsoft.com/office/drawing/2014/main" id="{1DE1028A-2DA8-4EAF-9186-D199821E7F62}"/>
              </a:ext>
            </a:extLst>
          </p:cNvPr>
          <p:cNvSpPr>
            <a:spLocks xmlns:a="http://schemas.openxmlformats.org/drawingml/2006/main" noGrp="1"/>
          </p:cNvSpPr>
          <p:nvPr/>
        </p:nvSpPr>
        <p:spPr>
          <a:xfrm xmlns:a="http://schemas.openxmlformats.org/drawingml/2006/main">
            <a:off x="7572375" y="2771775"/>
            <a:ext cx="164782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172B3C"/>
                </a:solidFill>
                <a:latin typeface="Arial"/>
                <a:ea typeface="Arial"/>
                <a:cs typeface="Arial"/>
              </a:defRPr>
            </a:pPr>
            <a:r>
              <a:rPr sz="1350" b="0">
                <a:solidFill>
                  <a:srgbClr val="172B3C"/>
                </a:solidFill>
                <a:latin typeface="Arial"/>
                <a:ea typeface="Arial"/>
                <a:cs typeface="Arial"/>
              </a:rPr>
              <a:t>Issue work order</a:t>
            </a:r>
          </a:p>
          <a:p xmlns:a="http://schemas.openxmlformats.org/drawingml/2006/main">
            <a:pPr algn="l">
              <a:defRPr sz="1350" b="0">
                <a:solidFill>
                  <a:srgbClr val="172B3C"/>
                </a:solidFill>
                <a:latin typeface="Arial"/>
                <a:ea typeface="Arial"/>
                <a:cs typeface="Arial"/>
              </a:defRPr>
            </a:pPr>
            <a:r>
              <a:rPr sz="1350" b="0">
                <a:solidFill>
                  <a:srgbClr val="172B3C"/>
                </a:solidFill>
                <a:latin typeface="Arial"/>
                <a:ea typeface="Arial"/>
                <a:cs typeface="Arial"/>
              </a:rPr>
              <a:t>Reserve component</a:t>
            </a:r>
          </a:p>
          <a:p xmlns:a="http://schemas.openxmlformats.org/drawingml/2006/main">
            <a:pPr algn="l">
              <a:defRPr sz="1350" b="0">
                <a:solidFill>
                  <a:srgbClr val="172B3C"/>
                </a:solidFill>
                <a:latin typeface="Arial"/>
                <a:ea typeface="Arial"/>
                <a:cs typeface="Arial"/>
              </a:defRPr>
            </a:pPr>
            <a:r>
              <a:rPr sz="1350" b="0">
                <a:solidFill>
                  <a:srgbClr val="172B3C"/>
                </a:solidFill>
                <a:latin typeface="Arial"/>
                <a:ea typeface="Arial"/>
                <a:cs typeface="Arial"/>
              </a:rPr>
              <a:t>Record labour / finding</a:t>
            </a:r>
          </a:p>
          <a:p xmlns:a="http://schemas.openxmlformats.org/drawingml/2006/main">
            <a:pPr algn="l">
              <a:defRPr sz="1350" b="0">
                <a:solidFill>
                  <a:srgbClr val="172B3C"/>
                </a:solidFill>
                <a:latin typeface="Arial"/>
                <a:ea typeface="Arial"/>
                <a:cs typeface="Arial"/>
              </a:defRPr>
            </a:pPr>
            <a:r>
              <a:rPr sz="1350" b="0">
                <a:solidFill>
                  <a:srgbClr val="172B3C"/>
                </a:solidFill>
                <a:latin typeface="Arial"/>
                <a:ea typeface="Arial"/>
                <a:cs typeface="Arial"/>
              </a:rPr>
              <a:t>Update service status</a:t>
            </a:r>
          </a:p>
        </p:txBody>
      </p:sp>
      <p:sp>
        <p:nvSpPr>
          <p:cNvPr id="18" name="">
            <a:extLst xmlns:a="http://schemas.openxmlformats.org/drawingml/2006/main">
              <a:ext uri="{FF2B5EF4-FFF2-40B4-BE49-F238E27FC236}">
                <a16:creationId xmlns:a16="http://schemas.microsoft.com/office/drawing/2014/main" id="{4060C547-DEB5-4BE5-B3A8-2847E808F201}"/>
              </a:ext>
            </a:extLst>
          </p:cNvPr>
          <p:cNvSpPr>
            <a:spLocks xmlns:a="http://schemas.openxmlformats.org/drawingml/2006/main" noGrp="1"/>
          </p:cNvSpPr>
          <p:nvPr/>
        </p:nvSpPr>
        <p:spPr>
          <a:xfrm xmlns:a="http://schemas.openxmlformats.org/drawingml/2006/main">
            <a:off x="9734550" y="2190750"/>
            <a:ext cx="1952625" cy="1762125"/>
          </a:xfrm>
          <a:prstGeom xmlns:a="http://schemas.openxmlformats.org/drawingml/2006/main" prst="roundRect">
            <a:avLst>
              <a:gd name="adj" fmla="val 6486"/>
            </a:avLst>
          </a:prstGeom>
          <a:solidFill xmlns:a="http://schemas.openxmlformats.org/drawingml/2006/main">
            <a:srgbClr val="183950"/>
          </a:solidFill>
          <a:ln xmlns:a="http://schemas.openxmlformats.org/drawingml/2006/main" w="9525">
            <a:solidFill>
              <a:srgbClr val="183950"/>
            </a:solidFill>
            <a:prstDash val="solid"/>
          </a:ln>
        </p:spPr>
      </p:sp>
      <p:sp>
        <p:nvSpPr>
          <p:cNvPr id="19" name="">
            <a:extLst xmlns:a="http://schemas.openxmlformats.org/drawingml/2006/main">
              <a:ext uri="{FF2B5EF4-FFF2-40B4-BE49-F238E27FC236}">
                <a16:creationId xmlns:a16="http://schemas.microsoft.com/office/drawing/2014/main" id="{782994A6-8B1F-48D0-91A9-CD96F243D655}"/>
              </a:ext>
            </a:extLst>
          </p:cNvPr>
          <p:cNvSpPr>
            <a:spLocks xmlns:a="http://schemas.openxmlformats.org/drawingml/2006/main" noGrp="1"/>
          </p:cNvSpPr>
          <p:nvPr/>
        </p:nvSpPr>
        <p:spPr>
          <a:xfrm xmlns:a="http://schemas.openxmlformats.org/drawingml/2006/main">
            <a:off x="9886950" y="2352675"/>
            <a:ext cx="16478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BFE1E1"/>
                </a:solidFill>
                <a:latin typeface="Arial"/>
                <a:ea typeface="Arial"/>
                <a:cs typeface="Arial"/>
              </a:defRPr>
            </a:pPr>
            <a:r>
              <a:rPr sz="1350" b="1">
                <a:solidFill>
                  <a:srgbClr val="BFE1E1"/>
                </a:solidFill>
                <a:latin typeface="Arial"/>
                <a:ea typeface="Arial"/>
                <a:cs typeface="Arial"/>
              </a:rPr>
              <a:t>LEARN</a:t>
            </a:r>
          </a:p>
        </p:txBody>
      </p:sp>
      <p:sp>
        <p:nvSpPr>
          <p:cNvPr id="20" name="">
            <a:extLst xmlns:a="http://schemas.openxmlformats.org/drawingml/2006/main">
              <a:ext uri="{FF2B5EF4-FFF2-40B4-BE49-F238E27FC236}">
                <a16:creationId xmlns:a16="http://schemas.microsoft.com/office/drawing/2014/main" id="{B3288D92-F169-4D40-B7BB-0A2E67BE2C5E}"/>
              </a:ext>
            </a:extLst>
          </p:cNvPr>
          <p:cNvSpPr>
            <a:spLocks xmlns:a="http://schemas.openxmlformats.org/drawingml/2006/main" noGrp="1"/>
          </p:cNvSpPr>
          <p:nvPr/>
        </p:nvSpPr>
        <p:spPr>
          <a:xfrm xmlns:a="http://schemas.openxmlformats.org/drawingml/2006/main">
            <a:off x="9886950" y="2771775"/>
            <a:ext cx="164782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FFFFFF"/>
                </a:solidFill>
                <a:latin typeface="Arial"/>
                <a:ea typeface="Arial"/>
                <a:cs typeface="Arial"/>
              </a:defRPr>
            </a:pPr>
            <a:r>
              <a:rPr sz="1350" b="0">
                <a:solidFill>
                  <a:srgbClr val="FFFFFF"/>
                </a:solidFill>
                <a:latin typeface="Arial"/>
                <a:ea typeface="Arial"/>
                <a:cs typeface="Arial"/>
              </a:rPr>
              <a:t>Verify after repair</a:t>
            </a:r>
          </a:p>
          <a:p xmlns:a="http://schemas.openxmlformats.org/drawingml/2006/main">
            <a:pPr algn="l">
              <a:defRPr sz="1350" b="0">
                <a:solidFill>
                  <a:srgbClr val="FFFFFF"/>
                </a:solidFill>
                <a:latin typeface="Arial"/>
                <a:ea typeface="Arial"/>
                <a:cs typeface="Arial"/>
              </a:defRPr>
            </a:pPr>
            <a:r>
              <a:rPr sz="1350" b="0">
                <a:solidFill>
                  <a:srgbClr val="FFFFFF"/>
                </a:solidFill>
                <a:latin typeface="Arial"/>
                <a:ea typeface="Arial"/>
                <a:cs typeface="Arial"/>
              </a:rPr>
              <a:t>Close / revise label</a:t>
            </a:r>
          </a:p>
          <a:p xmlns:a="http://schemas.openxmlformats.org/drawingml/2006/main">
            <a:pPr algn="l">
              <a:defRPr sz="1350" b="0">
                <a:solidFill>
                  <a:srgbClr val="FFFFFF"/>
                </a:solidFill>
                <a:latin typeface="Arial"/>
                <a:ea typeface="Arial"/>
                <a:cs typeface="Arial"/>
              </a:defRPr>
            </a:pPr>
            <a:r>
              <a:rPr sz="1350" b="0">
                <a:solidFill>
                  <a:srgbClr val="FFFFFF"/>
                </a:solidFill>
                <a:latin typeface="Arial"/>
                <a:ea typeface="Arial"/>
                <a:cs typeface="Arial"/>
              </a:rPr>
              <a:t>Measure alert quality</a:t>
            </a:r>
          </a:p>
          <a:p xmlns:a="http://schemas.openxmlformats.org/drawingml/2006/main">
            <a:pPr algn="l">
              <a:defRPr sz="1350" b="0">
                <a:solidFill>
                  <a:srgbClr val="FFFFFF"/>
                </a:solidFill>
                <a:latin typeface="Arial"/>
                <a:ea typeface="Arial"/>
                <a:cs typeface="Arial"/>
              </a:defRPr>
            </a:pPr>
            <a:r>
              <a:rPr sz="1350" b="0">
                <a:solidFill>
                  <a:srgbClr val="FFFFFF"/>
                </a:solidFill>
                <a:latin typeface="Arial"/>
                <a:ea typeface="Arial"/>
                <a:cs typeface="Arial"/>
              </a:rPr>
              <a:t>Refresh model safely</a:t>
            </a:r>
          </a:p>
        </p:txBody>
      </p:sp>
      <p:cxnSp>
        <p:nvCxnSpPr>
          <p:cNvPr id="49" name=""/>
          <p:cNvCxnSpPr>
            <a:stCxn xmlns:a="http://schemas.openxmlformats.org/drawingml/2006/main" id="6" idx="3"/>
            <a:endCxn xmlns:a="http://schemas.openxmlformats.org/drawingml/2006/main" id="9" idx="1"/>
          </p:cNvCxnSpPr>
          <p:nvPr/>
        </p:nvCxnSpPr>
        <p:spPr>
          <a:xfrm xmlns:a="http://schemas.openxmlformats.org/drawingml/2006/main">
            <a:off x="2428875" y="3071813"/>
            <a:ext cx="361950" cy="0"/>
          </a:xfrm>
          <a:prstGeom xmlns:a="http://schemas.openxmlformats.org/drawingml/2006/main" prst="straightConnector1">
            <a:avLst/>
          </a:prstGeom>
          <a:ln xmlns:a="http://schemas.openxmlformats.org/drawingml/2006/main" w="19050">
            <a:solidFill>
              <a:srgbClr val="087E80"/>
            </a:solidFill>
            <a:prstDash val="solid"/>
            <a:tailEnd type="triangle" w="med" len="med"/>
          </a:ln>
        </p:spPr>
      </p:cxnSp>
      <p:cxnSp>
        <p:nvCxnSpPr>
          <p:cNvPr id="50" name=""/>
          <p:cNvCxnSpPr>
            <a:stCxn xmlns:a="http://schemas.openxmlformats.org/drawingml/2006/main" id="9" idx="3"/>
            <a:endCxn xmlns:a="http://schemas.openxmlformats.org/drawingml/2006/main" id="12" idx="1"/>
          </p:cNvCxnSpPr>
          <p:nvPr/>
        </p:nvCxnSpPr>
        <p:spPr>
          <a:xfrm xmlns:a="http://schemas.openxmlformats.org/drawingml/2006/main">
            <a:off x="4743450" y="3071813"/>
            <a:ext cx="361950" cy="0"/>
          </a:xfrm>
          <a:prstGeom xmlns:a="http://schemas.openxmlformats.org/drawingml/2006/main" prst="straightConnector1">
            <a:avLst/>
          </a:prstGeom>
          <a:ln xmlns:a="http://schemas.openxmlformats.org/drawingml/2006/main" w="19050">
            <a:solidFill>
              <a:srgbClr val="087E80"/>
            </a:solidFill>
            <a:prstDash val="solid"/>
            <a:tailEnd type="triangle" w="med" len="med"/>
          </a:ln>
        </p:spPr>
      </p:cxnSp>
      <p:cxnSp>
        <p:nvCxnSpPr>
          <p:cNvPr id="51" name=""/>
          <p:cNvCxnSpPr>
            <a:stCxn xmlns:a="http://schemas.openxmlformats.org/drawingml/2006/main" id="12" idx="3"/>
            <a:endCxn xmlns:a="http://schemas.openxmlformats.org/drawingml/2006/main" id="15" idx="1"/>
          </p:cNvCxnSpPr>
          <p:nvPr/>
        </p:nvCxnSpPr>
        <p:spPr>
          <a:xfrm xmlns:a="http://schemas.openxmlformats.org/drawingml/2006/main">
            <a:off x="7058025" y="3071813"/>
            <a:ext cx="361950" cy="0"/>
          </a:xfrm>
          <a:prstGeom xmlns:a="http://schemas.openxmlformats.org/drawingml/2006/main" prst="straightConnector1">
            <a:avLst/>
          </a:prstGeom>
          <a:ln xmlns:a="http://schemas.openxmlformats.org/drawingml/2006/main" w="19050">
            <a:solidFill>
              <a:srgbClr val="087E80"/>
            </a:solidFill>
            <a:prstDash val="solid"/>
            <a:tailEnd type="triangle" w="med" len="med"/>
          </a:ln>
        </p:spPr>
      </p:cxnSp>
      <p:cxnSp>
        <p:nvCxnSpPr>
          <p:cNvPr id="52" name=""/>
          <p:cNvCxnSpPr>
            <a:stCxn xmlns:a="http://schemas.openxmlformats.org/drawingml/2006/main" id="15" idx="3"/>
            <a:endCxn xmlns:a="http://schemas.openxmlformats.org/drawingml/2006/main" id="18" idx="1"/>
          </p:cNvCxnSpPr>
          <p:nvPr/>
        </p:nvCxnSpPr>
        <p:spPr>
          <a:xfrm xmlns:a="http://schemas.openxmlformats.org/drawingml/2006/main">
            <a:off x="9372600" y="3071813"/>
            <a:ext cx="361950" cy="0"/>
          </a:xfrm>
          <a:prstGeom xmlns:a="http://schemas.openxmlformats.org/drawingml/2006/main" prst="straightConnector1">
            <a:avLst/>
          </a:prstGeom>
          <a:ln xmlns:a="http://schemas.openxmlformats.org/drawingml/2006/main" w="19050">
            <a:solidFill>
              <a:srgbClr val="087E80"/>
            </a:solidFill>
            <a:prstDash val="solid"/>
            <a:tailEnd type="triangle" w="med" len="med"/>
          </a:ln>
        </p:spPr>
      </p:cxnSp>
      <p:sp>
        <p:nvSpPr>
          <p:cNvPr id="25" name="">
            <a:extLst xmlns:a="http://schemas.openxmlformats.org/drawingml/2006/main">
              <a:ext uri="{FF2B5EF4-FFF2-40B4-BE49-F238E27FC236}">
                <a16:creationId xmlns:a16="http://schemas.microsoft.com/office/drawing/2014/main" id="{18C83FE2-6F15-4461-91DD-0EEC239A97DD}"/>
              </a:ext>
            </a:extLst>
          </p:cNvPr>
          <p:cNvSpPr>
            <a:spLocks xmlns:a="http://schemas.openxmlformats.org/drawingml/2006/main" noGrp="1"/>
          </p:cNvSpPr>
          <p:nvPr/>
        </p:nvSpPr>
        <p:spPr>
          <a:xfrm xmlns:a="http://schemas.openxmlformats.org/drawingml/2006/main">
            <a:off x="723900" y="4552950"/>
            <a:ext cx="10715625" cy="1057275"/>
          </a:xfrm>
          <a:prstGeom xmlns:a="http://schemas.openxmlformats.org/drawingml/2006/main" prst="roundRect">
            <a:avLst>
              <a:gd name="adj" fmla="val 9009"/>
            </a:avLst>
          </a:prstGeom>
          <a:solidFill xmlns:a="http://schemas.openxmlformats.org/drawingml/2006/main">
            <a:srgbClr val="DDEFEF"/>
          </a:solidFill>
          <a:ln xmlns:a="http://schemas.openxmlformats.org/drawingml/2006/main" w="9525">
            <a:solidFill>
              <a:srgbClr val="DDEFEF"/>
            </a:solidFill>
            <a:prstDash val="solid"/>
          </a:ln>
        </p:spPr>
      </p:sp>
      <p:sp>
        <p:nvSpPr>
          <p:cNvPr id="26" name="">
            <a:extLst xmlns:a="http://schemas.openxmlformats.org/drawingml/2006/main">
              <a:ext uri="{FF2B5EF4-FFF2-40B4-BE49-F238E27FC236}">
                <a16:creationId xmlns:a16="http://schemas.microsoft.com/office/drawing/2014/main" id="{FD23DF07-3E11-46FE-8ECC-048B3F8BB08D}"/>
              </a:ext>
            </a:extLst>
          </p:cNvPr>
          <p:cNvSpPr>
            <a:spLocks xmlns:a="http://schemas.openxmlformats.org/drawingml/2006/main" noGrp="1"/>
          </p:cNvSpPr>
          <p:nvPr/>
        </p:nvSpPr>
        <p:spPr>
          <a:xfrm xmlns:a="http://schemas.openxmlformats.org/drawingml/2006/main">
            <a:off x="942975" y="4705350"/>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087E80"/>
                </a:solidFill>
                <a:latin typeface="Arial"/>
                <a:ea typeface="Arial"/>
                <a:cs typeface="Arial"/>
              </a:defRPr>
            </a:pPr>
            <a:r>
              <a:rPr sz="1275" b="1">
                <a:solidFill>
                  <a:srgbClr val="087E80"/>
                </a:solidFill>
                <a:latin typeface="Arial"/>
                <a:ea typeface="Arial"/>
                <a:cs typeface="Arial"/>
              </a:rPr>
              <a:t>ENGINEER-IN-THE-LOOP SAFETY GATE</a:t>
            </a:r>
          </a:p>
        </p:txBody>
      </p:sp>
      <p:sp>
        <p:nvSpPr>
          <p:cNvPr id="27" name="">
            <a:extLst xmlns:a="http://schemas.openxmlformats.org/drawingml/2006/main">
              <a:ext uri="{FF2B5EF4-FFF2-40B4-BE49-F238E27FC236}">
                <a16:creationId xmlns:a16="http://schemas.microsoft.com/office/drawing/2014/main" id="{A9EF944B-EADF-4C95-A1AB-2B876EDCD56C}"/>
              </a:ext>
            </a:extLst>
          </p:cNvPr>
          <p:cNvSpPr>
            <a:spLocks xmlns:a="http://schemas.openxmlformats.org/drawingml/2006/main" noGrp="1"/>
          </p:cNvSpPr>
          <p:nvPr/>
        </p:nvSpPr>
        <p:spPr>
          <a:xfrm xmlns:a="http://schemas.openxmlformats.org/drawingml/2006/main">
            <a:off x="942975" y="5038725"/>
            <a:ext cx="1009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697"/>
          </a:bodyPr>
          <a:lstStyle xmlns:a="http://schemas.openxmlformats.org/drawingml/2006/main"/>
          <a:p xmlns:a="http://schemas.openxmlformats.org/drawingml/2006/main">
            <a:pPr algn="l">
              <a:defRPr sz="1650" b="1">
                <a:solidFill>
                  <a:srgbClr val="10263B"/>
                </a:solidFill>
                <a:latin typeface="Arial"/>
                <a:ea typeface="Arial"/>
                <a:cs typeface="Arial"/>
              </a:defRPr>
            </a:pPr>
            <a:r>
              <a:rPr sz="1650" b="1">
                <a:solidFill>
                  <a:srgbClr val="10263B"/>
                </a:solidFill>
                <a:latin typeface="Arial"/>
                <a:ea typeface="Arial"/>
                <a:cs typeface="Arial"/>
              </a:rPr>
              <a:t>AI recommends and explains. Authorized engineering staff decide whether to inspect, defer, ground or release the aircraft.</a:t>
            </a:r>
          </a:p>
        </p:txBody>
      </p:sp>
      <p:sp>
        <p:nvSpPr>
          <p:cNvPr id="28" name="">
            <a:extLst xmlns:a="http://schemas.openxmlformats.org/drawingml/2006/main">
              <a:ext uri="{FF2B5EF4-FFF2-40B4-BE49-F238E27FC236}">
                <a16:creationId xmlns:a16="http://schemas.microsoft.com/office/drawing/2014/main" id="{8A35C4DF-307B-41B7-8A0E-6BC273EECD2C}"/>
              </a:ext>
            </a:extLst>
          </p:cNvPr>
          <p:cNvSpPr>
            <a:spLocks xmlns:a="http://schemas.openxmlformats.org/drawingml/2006/main" noGrp="1"/>
          </p:cNvSpPr>
          <p:nvPr/>
        </p:nvSpPr>
        <p:spPr>
          <a:xfrm xmlns:a="http://schemas.openxmlformats.org/drawingml/2006/main">
            <a:off x="723900" y="5800725"/>
            <a:ext cx="10477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5E7282"/>
                </a:solidFill>
                <a:latin typeface="Arial"/>
                <a:ea typeface="Arial"/>
                <a:cs typeface="Arial"/>
              </a:defRPr>
            </a:pPr>
            <a:r>
              <a:rPr sz="1275" b="0">
                <a:solidFill>
                  <a:srgbClr val="5E7282"/>
                </a:solidFill>
                <a:latin typeface="Arial"/>
                <a:ea typeface="Arial"/>
                <a:cs typeface="Arial"/>
              </a:rPr>
              <a:t>Alert payload: asset + component · signal and time window · comparison baseline · confidence · suggested action · source record</a:t>
            </a:r>
          </a:p>
        </p:txBody>
      </p:sp>
    </p:spTree>
    <p:extLst>
      <p:ext uri="{BB962C8B-B14F-4D97-AF65-F5344CB8AC3E}">
        <p14:creationId xmlns:p14="http://schemas.microsoft.com/office/powerpoint/2010/main" val="108530509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CC4E3F02-0386-4CF5-9C03-3B2D8BF78216}"/>
              </a:ext>
            </a:extLst>
          </p:cNvPr>
          <p:cNvSpPr>
            <a:spLocks xmlns:a="http://schemas.openxmlformats.org/drawingml/2006/main" noGrp="1"/>
          </p:cNvSpPr>
          <p:nvPr/>
        </p:nvSpPr>
        <p:spPr>
          <a:xfrm xmlns:a="http://schemas.openxmlformats.org/drawingml/2006/main">
            <a:off x="514350" y="323850"/>
            <a:ext cx="10763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a:solidFill>
                  <a:srgbClr val="10263B"/>
                </a:solidFill>
                <a:latin typeface="Arial"/>
                <a:ea typeface="Arial"/>
                <a:cs typeface="Arial"/>
              </a:defRPr>
            </a:pPr>
            <a:r>
              <a:rPr sz="3150" b="1">
                <a:solidFill>
                  <a:srgbClr val="10263B"/>
                </a:solidFill>
                <a:latin typeface="Arial"/>
                <a:ea typeface="Arial"/>
                <a:cs typeface="Arial"/>
              </a:rPr>
              <a:t>Fleet availability and spares logic</a:t>
            </a:r>
          </a:p>
        </p:txBody>
      </p:sp>
      <p:sp>
        <p:nvSpPr>
          <p:cNvPr id="2" name="">
            <a:extLst xmlns:a="http://schemas.openxmlformats.org/drawingml/2006/main">
              <a:ext uri="{FF2B5EF4-FFF2-40B4-BE49-F238E27FC236}">
                <a16:creationId xmlns:a16="http://schemas.microsoft.com/office/drawing/2014/main" id="{C8AB2120-024F-446B-9E1F-13C21AFD5A00}"/>
              </a:ext>
            </a:extLst>
          </p:cNvPr>
          <p:cNvSpPr>
            <a:spLocks xmlns:a="http://schemas.openxmlformats.org/drawingml/2006/main" noGrp="1"/>
          </p:cNvSpPr>
          <p:nvPr/>
        </p:nvSpPr>
        <p:spPr>
          <a:xfrm xmlns:a="http://schemas.openxmlformats.org/drawingml/2006/main">
            <a:off x="533400" y="8763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5E7282"/>
                </a:solidFill>
                <a:latin typeface="Arial"/>
                <a:ea typeface="Arial"/>
                <a:cs typeface="Arial"/>
              </a:defRPr>
            </a:pPr>
            <a:r>
              <a:rPr sz="1575" b="0">
                <a:solidFill>
                  <a:srgbClr val="5E7282"/>
                </a:solidFill>
                <a:latin typeface="Arial"/>
                <a:ea typeface="Arial"/>
                <a:cs typeface="Arial"/>
              </a:rPr>
              <a:t>Combine aircraft status with work orders, parts and maintenance capacity to forecast readiness</a:t>
            </a:r>
          </a:p>
        </p:txBody>
      </p:sp>
      <p:sp>
        <p:nvSpPr>
          <p:cNvPr id="3" name="">
            <a:extLst xmlns:a="http://schemas.openxmlformats.org/drawingml/2006/main">
              <a:ext uri="{FF2B5EF4-FFF2-40B4-BE49-F238E27FC236}">
                <a16:creationId xmlns:a16="http://schemas.microsoft.com/office/drawing/2014/main" id="{73AC9562-9E5B-4187-A7D8-2BEA9C509EF2}"/>
              </a:ext>
            </a:extLst>
          </p:cNvPr>
          <p:cNvSpPr>
            <a:spLocks xmlns:a="http://schemas.openxmlformats.org/drawingml/2006/main" noGrp="1"/>
          </p:cNvSpPr>
          <p:nvPr/>
        </p:nvSpPr>
        <p:spPr>
          <a:xfrm xmlns:a="http://schemas.openxmlformats.org/drawingml/2006/main">
            <a:off x="514350" y="6334125"/>
            <a:ext cx="11163300" cy="0"/>
          </a:xfrm>
          <a:prstGeom xmlns:a="http://schemas.openxmlformats.org/drawingml/2006/main" prst="line">
            <a:avLst/>
          </a:prstGeom>
          <a:noFill xmlns:a="http://schemas.openxmlformats.org/drawingml/2006/main"/>
          <a:ln xmlns:a="http://schemas.openxmlformats.org/drawingml/2006/main" w="9525">
            <a:solidFill>
              <a:srgbClr val="D8E1E7"/>
            </a:solidFill>
            <a:prstDash val="solid"/>
          </a:ln>
        </p:spPr>
      </p:sp>
      <p:sp>
        <p:nvSpPr>
          <p:cNvPr id="4" name="">
            <a:extLst xmlns:a="http://schemas.openxmlformats.org/drawingml/2006/main">
              <a:ext uri="{FF2B5EF4-FFF2-40B4-BE49-F238E27FC236}">
                <a16:creationId xmlns:a16="http://schemas.microsoft.com/office/drawing/2014/main" id="{7FAFD8BF-B203-4542-B1F7-B8E66FE97779}"/>
              </a:ext>
            </a:extLst>
          </p:cNvPr>
          <p:cNvSpPr>
            <a:spLocks xmlns:a="http://schemas.openxmlformats.org/drawingml/2006/main" noGrp="1"/>
          </p:cNvSpPr>
          <p:nvPr/>
        </p:nvSpPr>
        <p:spPr>
          <a:xfrm xmlns:a="http://schemas.openxmlformats.org/drawingml/2006/main">
            <a:off x="514350" y="6448425"/>
            <a:ext cx="7429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5E7282"/>
                </a:solidFill>
                <a:latin typeface="Arial"/>
                <a:ea typeface="Arial"/>
                <a:cs typeface="Arial"/>
              </a:defRPr>
            </a:pPr>
            <a:r>
              <a:rPr sz="900" b="1">
                <a:solidFill>
                  <a:srgbClr val="5E7282"/>
                </a:solidFill>
                <a:latin typeface="Arial"/>
                <a:ea typeface="Arial"/>
                <a:cs typeface="Arial"/>
              </a:rPr>
              <a:t>AIR POWER  /  PREDICTIVE MAINTENANCE TECHNICAL APPROACH</a:t>
            </a:r>
          </a:p>
        </p:txBody>
      </p:sp>
      <p:sp>
        <p:nvSpPr>
          <p:cNvPr id="5" name="">
            <a:extLst xmlns:a="http://schemas.openxmlformats.org/drawingml/2006/main">
              <a:ext uri="{FF2B5EF4-FFF2-40B4-BE49-F238E27FC236}">
                <a16:creationId xmlns:a16="http://schemas.microsoft.com/office/drawing/2014/main" id="{E6E31067-4D83-4CD2-BD0A-58688120F594}"/>
              </a:ext>
            </a:extLst>
          </p:cNvPr>
          <p:cNvSpPr>
            <a:spLocks xmlns:a="http://schemas.openxmlformats.org/drawingml/2006/main" noGrp="1"/>
          </p:cNvSpPr>
          <p:nvPr/>
        </p:nvSpPr>
        <p:spPr>
          <a:xfrm xmlns:a="http://schemas.openxmlformats.org/drawingml/2006/main">
            <a:off x="11277600" y="641985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5E7282"/>
                </a:solidFill>
                <a:latin typeface="Arial"/>
                <a:ea typeface="Arial"/>
                <a:cs typeface="Arial"/>
              </a:defRPr>
            </a:pPr>
            <a:r>
              <a:rPr sz="1050" b="1">
                <a:solidFill>
                  <a:srgbClr val="5E7282"/>
                </a:solidFill>
                <a:latin typeface="Arial"/>
                <a:ea typeface="Arial"/>
                <a:cs typeface="Arial"/>
              </a:rPr>
              <a:t>05</a:t>
            </a:r>
          </a:p>
        </p:txBody>
      </p:sp>
      <p:sp>
        <p:nvSpPr>
          <p:cNvPr id="6" name="">
            <a:extLst xmlns:a="http://schemas.openxmlformats.org/drawingml/2006/main">
              <a:ext uri="{FF2B5EF4-FFF2-40B4-BE49-F238E27FC236}">
                <a16:creationId xmlns:a16="http://schemas.microsoft.com/office/drawing/2014/main" id="{C3886340-86ED-42A6-ADAA-C534F9621E4D}"/>
              </a:ext>
            </a:extLst>
          </p:cNvPr>
          <p:cNvSpPr>
            <a:spLocks xmlns:a="http://schemas.openxmlformats.org/drawingml/2006/main" noGrp="1"/>
          </p:cNvSpPr>
          <p:nvPr/>
        </p:nvSpPr>
        <p:spPr>
          <a:xfrm xmlns:a="http://schemas.openxmlformats.org/drawingml/2006/main">
            <a:off x="552450" y="1638300"/>
            <a:ext cx="3952875" cy="1733550"/>
          </a:xfrm>
          <a:prstGeom xmlns:a="http://schemas.openxmlformats.org/drawingml/2006/main" prst="roundRect">
            <a:avLst>
              <a:gd name="adj" fmla="val 6593"/>
            </a:avLst>
          </a:prstGeom>
          <a:solidFill xmlns:a="http://schemas.openxmlformats.org/drawingml/2006/main">
            <a:srgbClr val="10263B"/>
          </a:solidFill>
          <a:ln xmlns:a="http://schemas.openxmlformats.org/drawingml/2006/main" w="9525">
            <a:solidFill>
              <a:srgbClr val="10263B"/>
            </a:solidFill>
            <a:prstDash val="solid"/>
          </a:ln>
        </p:spPr>
      </p:sp>
      <p:sp>
        <p:nvSpPr>
          <p:cNvPr id="7" name="">
            <a:extLst xmlns:a="http://schemas.openxmlformats.org/drawingml/2006/main">
              <a:ext uri="{FF2B5EF4-FFF2-40B4-BE49-F238E27FC236}">
                <a16:creationId xmlns:a16="http://schemas.microsoft.com/office/drawing/2014/main" id="{E331EE9C-FF56-485C-9209-2E086A4292B7}"/>
              </a:ext>
            </a:extLst>
          </p:cNvPr>
          <p:cNvSpPr>
            <a:spLocks xmlns:a="http://schemas.openxmlformats.org/drawingml/2006/main" noGrp="1"/>
          </p:cNvSpPr>
          <p:nvPr/>
        </p:nvSpPr>
        <p:spPr>
          <a:xfrm xmlns:a="http://schemas.openxmlformats.org/drawingml/2006/main">
            <a:off x="800100" y="1847850"/>
            <a:ext cx="3429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BFE1E1"/>
                </a:solidFill>
                <a:latin typeface="Arial"/>
                <a:ea typeface="Arial"/>
                <a:cs typeface="Arial"/>
              </a:defRPr>
            </a:pPr>
            <a:r>
              <a:rPr sz="1275" b="1">
                <a:solidFill>
                  <a:srgbClr val="BFE1E1"/>
                </a:solidFill>
                <a:latin typeface="Arial"/>
                <a:ea typeface="Arial"/>
                <a:cs typeface="Arial"/>
              </a:rPr>
              <a:t>READINESS MEASURE</a:t>
            </a:r>
          </a:p>
        </p:txBody>
      </p:sp>
      <p:sp>
        <p:nvSpPr>
          <p:cNvPr id="8" name="">
            <a:extLst xmlns:a="http://schemas.openxmlformats.org/drawingml/2006/main">
              <a:ext uri="{FF2B5EF4-FFF2-40B4-BE49-F238E27FC236}">
                <a16:creationId xmlns:a16="http://schemas.microsoft.com/office/drawing/2014/main" id="{3C490CEC-5917-4C27-9D36-ACCD9AD09918}"/>
              </a:ext>
            </a:extLst>
          </p:cNvPr>
          <p:cNvSpPr>
            <a:spLocks xmlns:a="http://schemas.openxmlformats.org/drawingml/2006/main" noGrp="1"/>
          </p:cNvSpPr>
          <p:nvPr/>
        </p:nvSpPr>
        <p:spPr>
          <a:xfrm xmlns:a="http://schemas.openxmlformats.org/drawingml/2006/main">
            <a:off x="800100" y="2276475"/>
            <a:ext cx="34861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75" b="1">
                <a:solidFill>
                  <a:srgbClr val="FFFFFF"/>
                </a:solidFill>
                <a:latin typeface="Arial"/>
                <a:ea typeface="Arial"/>
                <a:cs typeface="Arial"/>
              </a:defRPr>
            </a:pPr>
            <a:r>
              <a:rPr sz="2175" b="1">
                <a:solidFill>
                  <a:srgbClr val="FFFFFF"/>
                </a:solidFill>
                <a:latin typeface="Arial"/>
                <a:ea typeface="Arial"/>
                <a:cs typeface="Arial"/>
              </a:rPr>
              <a:t>Serviceable aircraft ÷</a:t>
            </a:r>
          </a:p>
          <a:p xmlns:a="http://schemas.openxmlformats.org/drawingml/2006/main">
            <a:pPr algn="l">
              <a:defRPr sz="2175" b="1">
                <a:solidFill>
                  <a:srgbClr val="FFFFFF"/>
                </a:solidFill>
                <a:latin typeface="Arial"/>
                <a:ea typeface="Arial"/>
                <a:cs typeface="Arial"/>
              </a:defRPr>
            </a:pPr>
            <a:r>
              <a:rPr sz="2175" b="1">
                <a:solidFill>
                  <a:srgbClr val="FFFFFF"/>
                </a:solidFill>
                <a:latin typeface="Arial"/>
                <a:ea typeface="Arial"/>
                <a:cs typeface="Arial"/>
              </a:rPr>
              <a:t>total fleet</a:t>
            </a:r>
          </a:p>
        </p:txBody>
      </p:sp>
      <p:sp>
        <p:nvSpPr>
          <p:cNvPr id="9" name="">
            <a:extLst xmlns:a="http://schemas.openxmlformats.org/drawingml/2006/main">
              <a:ext uri="{FF2B5EF4-FFF2-40B4-BE49-F238E27FC236}">
                <a16:creationId xmlns:a16="http://schemas.microsoft.com/office/drawing/2014/main" id="{2C24F71D-8DD7-4208-B931-DB3A217E3F11}"/>
              </a:ext>
            </a:extLst>
          </p:cNvPr>
          <p:cNvSpPr>
            <a:spLocks xmlns:a="http://schemas.openxmlformats.org/drawingml/2006/main" noGrp="1"/>
          </p:cNvSpPr>
          <p:nvPr/>
        </p:nvSpPr>
        <p:spPr>
          <a:xfrm xmlns:a="http://schemas.openxmlformats.org/drawingml/2006/main">
            <a:off x="800100" y="3076575"/>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BFE1E1"/>
                </a:solidFill>
                <a:latin typeface="Arial"/>
                <a:ea typeface="Arial"/>
                <a:cs typeface="Arial"/>
              </a:defRPr>
            </a:pPr>
            <a:r>
              <a:rPr sz="1200" b="0">
                <a:solidFill>
                  <a:srgbClr val="BFE1E1"/>
                </a:solidFill>
                <a:latin typeface="Arial"/>
                <a:ea typeface="Arial"/>
                <a:cs typeface="Arial"/>
              </a:rPr>
              <a:t>Show status coverage; unknown ≠ serviceable</a:t>
            </a:r>
          </a:p>
        </p:txBody>
      </p:sp>
      <p:sp>
        <p:nvSpPr>
          <p:cNvPr id="10" name="">
            <a:extLst xmlns:a="http://schemas.openxmlformats.org/drawingml/2006/main">
              <a:ext uri="{FF2B5EF4-FFF2-40B4-BE49-F238E27FC236}">
                <a16:creationId xmlns:a16="http://schemas.microsoft.com/office/drawing/2014/main" id="{6059EBAB-AD83-40E9-B870-0C0E6E202C93}"/>
              </a:ext>
            </a:extLst>
          </p:cNvPr>
          <p:cNvSpPr>
            <a:spLocks xmlns:a="http://schemas.openxmlformats.org/drawingml/2006/main" noGrp="1"/>
          </p:cNvSpPr>
          <p:nvPr/>
        </p:nvSpPr>
        <p:spPr>
          <a:xfrm xmlns:a="http://schemas.openxmlformats.org/drawingml/2006/main">
            <a:off x="5191125" y="1714500"/>
            <a:ext cx="2571750" cy="876300"/>
          </a:xfrm>
          <a:prstGeom xmlns:a="http://schemas.openxmlformats.org/drawingml/2006/main" prst="roundRect">
            <a:avLst>
              <a:gd name="adj" fmla="val 10870"/>
            </a:avLst>
          </a:prstGeom>
          <a:solidFill xmlns:a="http://schemas.openxmlformats.org/drawingml/2006/main">
            <a:srgbClr val="F2F6F8"/>
          </a:solidFill>
          <a:ln xmlns:a="http://schemas.openxmlformats.org/drawingml/2006/main" w="9525">
            <a:solidFill>
              <a:srgbClr val="D8E1E7"/>
            </a:solidFill>
            <a:prstDash val="solid"/>
          </a:ln>
        </p:spPr>
      </p:sp>
      <p:sp>
        <p:nvSpPr>
          <p:cNvPr id="11" name="">
            <a:extLst xmlns:a="http://schemas.openxmlformats.org/drawingml/2006/main">
              <a:ext uri="{FF2B5EF4-FFF2-40B4-BE49-F238E27FC236}">
                <a16:creationId xmlns:a16="http://schemas.microsoft.com/office/drawing/2014/main" id="{EFCADA81-275B-40A4-9977-AE483C3C8F27}"/>
              </a:ext>
            </a:extLst>
          </p:cNvPr>
          <p:cNvSpPr>
            <a:spLocks xmlns:a="http://schemas.openxmlformats.org/drawingml/2006/main" noGrp="1"/>
          </p:cNvSpPr>
          <p:nvPr/>
        </p:nvSpPr>
        <p:spPr>
          <a:xfrm xmlns:a="http://schemas.openxmlformats.org/drawingml/2006/main">
            <a:off x="5381625" y="1838325"/>
            <a:ext cx="2190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087E80"/>
                </a:solidFill>
                <a:latin typeface="Arial"/>
                <a:ea typeface="Arial"/>
                <a:cs typeface="Arial"/>
              </a:defRPr>
            </a:pPr>
            <a:r>
              <a:rPr sz="1200" b="1">
                <a:solidFill>
                  <a:srgbClr val="087E80"/>
                </a:solidFill>
                <a:latin typeface="Arial"/>
                <a:ea typeface="Arial"/>
                <a:cs typeface="Arial"/>
              </a:rPr>
              <a:t>WORK ORDERS</a:t>
            </a:r>
          </a:p>
        </p:txBody>
      </p:sp>
      <p:sp>
        <p:nvSpPr>
          <p:cNvPr id="12" name="">
            <a:extLst xmlns:a="http://schemas.openxmlformats.org/drawingml/2006/main">
              <a:ext uri="{FF2B5EF4-FFF2-40B4-BE49-F238E27FC236}">
                <a16:creationId xmlns:a16="http://schemas.microsoft.com/office/drawing/2014/main" id="{4B3DE776-FC28-4F20-96AC-F2E8D7C96B82}"/>
              </a:ext>
            </a:extLst>
          </p:cNvPr>
          <p:cNvSpPr>
            <a:spLocks xmlns:a="http://schemas.openxmlformats.org/drawingml/2006/main" noGrp="1"/>
          </p:cNvSpPr>
          <p:nvPr/>
        </p:nvSpPr>
        <p:spPr>
          <a:xfrm xmlns:a="http://schemas.openxmlformats.org/drawingml/2006/main">
            <a:off x="5381625" y="2085975"/>
            <a:ext cx="2190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172B3C"/>
                </a:solidFill>
                <a:latin typeface="Arial"/>
                <a:ea typeface="Arial"/>
                <a:cs typeface="Arial"/>
              </a:defRPr>
            </a:pPr>
            <a:r>
              <a:rPr sz="1275" b="0">
                <a:solidFill>
                  <a:srgbClr val="172B3C"/>
                </a:solidFill>
                <a:latin typeface="Arial"/>
                <a:ea typeface="Arial"/>
                <a:cs typeface="Arial"/>
              </a:rPr>
              <a:t>Open task · priority</a:t>
            </a:r>
          </a:p>
          <a:p xmlns:a="http://schemas.openxmlformats.org/drawingml/2006/main">
            <a:pPr algn="l">
              <a:defRPr sz="1275" b="0">
                <a:solidFill>
                  <a:srgbClr val="172B3C"/>
                </a:solidFill>
                <a:latin typeface="Arial"/>
                <a:ea typeface="Arial"/>
                <a:cs typeface="Arial"/>
              </a:defRPr>
            </a:pPr>
            <a:r>
              <a:rPr sz="1275" b="0">
                <a:solidFill>
                  <a:srgbClr val="172B3C"/>
                </a:solidFill>
                <a:latin typeface="Arial"/>
                <a:ea typeface="Arial"/>
                <a:cs typeface="Arial"/>
              </a:rPr>
              <a:t>required skill · duration</a:t>
            </a:r>
          </a:p>
        </p:txBody>
      </p:sp>
      <p:sp>
        <p:nvSpPr>
          <p:cNvPr id="13" name="">
            <a:extLst xmlns:a="http://schemas.openxmlformats.org/drawingml/2006/main">
              <a:ext uri="{FF2B5EF4-FFF2-40B4-BE49-F238E27FC236}">
                <a16:creationId xmlns:a16="http://schemas.microsoft.com/office/drawing/2014/main" id="{6D9B2A0C-2084-434D-B726-EA3F2CD21B74}"/>
              </a:ext>
            </a:extLst>
          </p:cNvPr>
          <p:cNvSpPr>
            <a:spLocks xmlns:a="http://schemas.openxmlformats.org/drawingml/2006/main" noGrp="1"/>
          </p:cNvSpPr>
          <p:nvPr/>
        </p:nvSpPr>
        <p:spPr>
          <a:xfrm xmlns:a="http://schemas.openxmlformats.org/drawingml/2006/main">
            <a:off x="5191125" y="2905125"/>
            <a:ext cx="2571750" cy="876300"/>
          </a:xfrm>
          <a:prstGeom xmlns:a="http://schemas.openxmlformats.org/drawingml/2006/main" prst="roundRect">
            <a:avLst>
              <a:gd name="adj" fmla="val 10870"/>
            </a:avLst>
          </a:prstGeom>
          <a:solidFill xmlns:a="http://schemas.openxmlformats.org/drawingml/2006/main">
            <a:srgbClr val="FFF2DB"/>
          </a:solidFill>
          <a:ln xmlns:a="http://schemas.openxmlformats.org/drawingml/2006/main" w="9525">
            <a:solidFill>
              <a:srgbClr val="D8E1E7"/>
            </a:solidFill>
            <a:prstDash val="solid"/>
          </a:ln>
        </p:spPr>
      </p:sp>
      <p:sp>
        <p:nvSpPr>
          <p:cNvPr id="14" name="">
            <a:extLst xmlns:a="http://schemas.openxmlformats.org/drawingml/2006/main">
              <a:ext uri="{FF2B5EF4-FFF2-40B4-BE49-F238E27FC236}">
                <a16:creationId xmlns:a16="http://schemas.microsoft.com/office/drawing/2014/main" id="{370BF414-E655-4239-AFFA-151FAD9EA594}"/>
              </a:ext>
            </a:extLst>
          </p:cNvPr>
          <p:cNvSpPr>
            <a:spLocks xmlns:a="http://schemas.openxmlformats.org/drawingml/2006/main" noGrp="1"/>
          </p:cNvSpPr>
          <p:nvPr/>
        </p:nvSpPr>
        <p:spPr>
          <a:xfrm xmlns:a="http://schemas.openxmlformats.org/drawingml/2006/main">
            <a:off x="5381625" y="3028950"/>
            <a:ext cx="2190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C77B19"/>
                </a:solidFill>
                <a:latin typeface="Arial"/>
                <a:ea typeface="Arial"/>
                <a:cs typeface="Arial"/>
              </a:defRPr>
            </a:pPr>
            <a:r>
              <a:rPr sz="1200" b="1">
                <a:solidFill>
                  <a:srgbClr val="C77B19"/>
                </a:solidFill>
                <a:latin typeface="Arial"/>
                <a:ea typeface="Arial"/>
                <a:cs typeface="Arial"/>
              </a:rPr>
              <a:t>PARTS</a:t>
            </a:r>
          </a:p>
        </p:txBody>
      </p:sp>
      <p:sp>
        <p:nvSpPr>
          <p:cNvPr id="15" name="">
            <a:extLst xmlns:a="http://schemas.openxmlformats.org/drawingml/2006/main">
              <a:ext uri="{FF2B5EF4-FFF2-40B4-BE49-F238E27FC236}">
                <a16:creationId xmlns:a16="http://schemas.microsoft.com/office/drawing/2014/main" id="{551F8042-34B1-4003-B3C8-FD193F703C78}"/>
              </a:ext>
            </a:extLst>
          </p:cNvPr>
          <p:cNvSpPr>
            <a:spLocks xmlns:a="http://schemas.openxmlformats.org/drawingml/2006/main" noGrp="1"/>
          </p:cNvSpPr>
          <p:nvPr/>
        </p:nvSpPr>
        <p:spPr>
          <a:xfrm xmlns:a="http://schemas.openxmlformats.org/drawingml/2006/main">
            <a:off x="5381625" y="3276600"/>
            <a:ext cx="2190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172B3C"/>
                </a:solidFill>
                <a:latin typeface="Arial"/>
                <a:ea typeface="Arial"/>
                <a:cs typeface="Arial"/>
              </a:defRPr>
            </a:pPr>
            <a:r>
              <a:rPr sz="1275" b="0">
                <a:solidFill>
                  <a:srgbClr val="172B3C"/>
                </a:solidFill>
                <a:latin typeface="Arial"/>
                <a:ea typeface="Arial"/>
                <a:cs typeface="Arial"/>
              </a:rPr>
              <a:t>On hand · reserved</a:t>
            </a:r>
          </a:p>
          <a:p xmlns:a="http://schemas.openxmlformats.org/drawingml/2006/main">
            <a:pPr algn="l">
              <a:defRPr sz="1275" b="0">
                <a:solidFill>
                  <a:srgbClr val="172B3C"/>
                </a:solidFill>
                <a:latin typeface="Arial"/>
                <a:ea typeface="Arial"/>
                <a:cs typeface="Arial"/>
              </a:defRPr>
            </a:pPr>
            <a:r>
              <a:rPr sz="1275" b="0">
                <a:solidFill>
                  <a:srgbClr val="172B3C"/>
                </a:solidFill>
                <a:latin typeface="Arial"/>
                <a:ea typeface="Arial"/>
                <a:cs typeface="Arial"/>
              </a:rPr>
              <a:t>reorder point · lead time</a:t>
            </a:r>
          </a:p>
        </p:txBody>
      </p:sp>
      <p:sp>
        <p:nvSpPr>
          <p:cNvPr id="16" name="">
            <a:extLst xmlns:a="http://schemas.openxmlformats.org/drawingml/2006/main">
              <a:ext uri="{FF2B5EF4-FFF2-40B4-BE49-F238E27FC236}">
                <a16:creationId xmlns:a16="http://schemas.microsoft.com/office/drawing/2014/main" id="{04C4B547-3550-4430-B068-9EC615C5EF08}"/>
              </a:ext>
            </a:extLst>
          </p:cNvPr>
          <p:cNvSpPr>
            <a:spLocks xmlns:a="http://schemas.openxmlformats.org/drawingml/2006/main" noGrp="1"/>
          </p:cNvSpPr>
          <p:nvPr/>
        </p:nvSpPr>
        <p:spPr>
          <a:xfrm xmlns:a="http://schemas.openxmlformats.org/drawingml/2006/main">
            <a:off x="5191125" y="4095750"/>
            <a:ext cx="2571750" cy="876300"/>
          </a:xfrm>
          <a:prstGeom xmlns:a="http://schemas.openxmlformats.org/drawingml/2006/main" prst="roundRect">
            <a:avLst>
              <a:gd name="adj" fmla="val 10870"/>
            </a:avLst>
          </a:prstGeom>
          <a:solidFill xmlns:a="http://schemas.openxmlformats.org/drawingml/2006/main">
            <a:srgbClr val="F2F6F8"/>
          </a:solidFill>
          <a:ln xmlns:a="http://schemas.openxmlformats.org/drawingml/2006/main" w="9525">
            <a:solidFill>
              <a:srgbClr val="D8E1E7"/>
            </a:solidFill>
            <a:prstDash val="solid"/>
          </a:ln>
        </p:spPr>
      </p:sp>
      <p:sp>
        <p:nvSpPr>
          <p:cNvPr id="17" name="">
            <a:extLst xmlns:a="http://schemas.openxmlformats.org/drawingml/2006/main">
              <a:ext uri="{FF2B5EF4-FFF2-40B4-BE49-F238E27FC236}">
                <a16:creationId xmlns:a16="http://schemas.microsoft.com/office/drawing/2014/main" id="{73F2EDB1-BBB1-4AA5-B391-9D225EEFAE4C}"/>
              </a:ext>
            </a:extLst>
          </p:cNvPr>
          <p:cNvSpPr>
            <a:spLocks xmlns:a="http://schemas.openxmlformats.org/drawingml/2006/main" noGrp="1"/>
          </p:cNvSpPr>
          <p:nvPr/>
        </p:nvSpPr>
        <p:spPr>
          <a:xfrm xmlns:a="http://schemas.openxmlformats.org/drawingml/2006/main">
            <a:off x="5381625" y="4219575"/>
            <a:ext cx="2190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087E80"/>
                </a:solidFill>
                <a:latin typeface="Arial"/>
                <a:ea typeface="Arial"/>
                <a:cs typeface="Arial"/>
              </a:defRPr>
            </a:pPr>
            <a:r>
              <a:rPr sz="1200" b="1">
                <a:solidFill>
                  <a:srgbClr val="087E80"/>
                </a:solidFill>
                <a:latin typeface="Arial"/>
                <a:ea typeface="Arial"/>
                <a:cs typeface="Arial"/>
              </a:rPr>
              <a:t>CAPACITY</a:t>
            </a:r>
          </a:p>
        </p:txBody>
      </p:sp>
      <p:sp>
        <p:nvSpPr>
          <p:cNvPr id="18" name="">
            <a:extLst xmlns:a="http://schemas.openxmlformats.org/drawingml/2006/main">
              <a:ext uri="{FF2B5EF4-FFF2-40B4-BE49-F238E27FC236}">
                <a16:creationId xmlns:a16="http://schemas.microsoft.com/office/drawing/2014/main" id="{AE883E4C-B5B9-43B2-91FC-008DEB546533}"/>
              </a:ext>
            </a:extLst>
          </p:cNvPr>
          <p:cNvSpPr>
            <a:spLocks xmlns:a="http://schemas.openxmlformats.org/drawingml/2006/main" noGrp="1"/>
          </p:cNvSpPr>
          <p:nvPr/>
        </p:nvSpPr>
        <p:spPr>
          <a:xfrm xmlns:a="http://schemas.openxmlformats.org/drawingml/2006/main">
            <a:off x="5381625" y="4467225"/>
            <a:ext cx="2190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172B3C"/>
                </a:solidFill>
                <a:latin typeface="Arial"/>
                <a:ea typeface="Arial"/>
                <a:cs typeface="Arial"/>
              </a:defRPr>
            </a:pPr>
            <a:r>
              <a:rPr sz="1275" b="0">
                <a:solidFill>
                  <a:srgbClr val="172B3C"/>
                </a:solidFill>
                <a:latin typeface="Arial"/>
                <a:ea typeface="Arial"/>
                <a:cs typeface="Arial"/>
              </a:rPr>
              <a:t>Available technicians</a:t>
            </a:r>
          </a:p>
          <a:p xmlns:a="http://schemas.openxmlformats.org/drawingml/2006/main">
            <a:pPr algn="l">
              <a:defRPr sz="1275" b="0">
                <a:solidFill>
                  <a:srgbClr val="172B3C"/>
                </a:solidFill>
                <a:latin typeface="Arial"/>
                <a:ea typeface="Arial"/>
                <a:cs typeface="Arial"/>
              </a:defRPr>
            </a:pPr>
            <a:r>
              <a:rPr sz="1275" b="0">
                <a:solidFill>
                  <a:srgbClr val="172B3C"/>
                </a:solidFill>
                <a:latin typeface="Arial"/>
                <a:ea typeface="Arial"/>
                <a:cs typeface="Arial"/>
              </a:rPr>
              <a:t>base / agency workload</a:t>
            </a:r>
          </a:p>
        </p:txBody>
      </p:sp>
      <p:sp>
        <p:nvSpPr>
          <p:cNvPr id="19" name="">
            <a:extLst xmlns:a="http://schemas.openxmlformats.org/drawingml/2006/main">
              <a:ext uri="{FF2B5EF4-FFF2-40B4-BE49-F238E27FC236}">
                <a16:creationId xmlns:a16="http://schemas.microsoft.com/office/drawing/2014/main" id="{8BA44FBA-1649-469C-8626-60B91BB00C8A}"/>
              </a:ext>
            </a:extLst>
          </p:cNvPr>
          <p:cNvSpPr>
            <a:spLocks xmlns:a="http://schemas.openxmlformats.org/drawingml/2006/main" noGrp="1"/>
          </p:cNvSpPr>
          <p:nvPr/>
        </p:nvSpPr>
        <p:spPr>
          <a:xfrm xmlns:a="http://schemas.openxmlformats.org/drawingml/2006/main">
            <a:off x="8915400" y="2552700"/>
            <a:ext cx="2600325" cy="1381125"/>
          </a:xfrm>
          <a:prstGeom xmlns:a="http://schemas.openxmlformats.org/drawingml/2006/main" prst="roundRect">
            <a:avLst>
              <a:gd name="adj" fmla="val 1379"/>
            </a:avLst>
          </a:prstGeom>
          <a:solidFill xmlns:a="http://schemas.openxmlformats.org/drawingml/2006/main">
            <a:srgbClr val="DDEFEF"/>
          </a:solidFill>
          <a:ln xmlns:a="http://schemas.openxmlformats.org/drawingml/2006/main" w="9525">
            <a:solidFill>
              <a:srgbClr val="087E80"/>
            </a:solidFill>
            <a:prstDash val="solid"/>
          </a:ln>
        </p:spPr>
      </p:sp>
      <p:sp>
        <p:nvSpPr>
          <p:cNvPr id="20" name="">
            <a:extLst xmlns:a="http://schemas.openxmlformats.org/drawingml/2006/main">
              <a:ext uri="{FF2B5EF4-FFF2-40B4-BE49-F238E27FC236}">
                <a16:creationId xmlns:a16="http://schemas.microsoft.com/office/drawing/2014/main" id="{6A5F82DC-CA96-41DB-BEA6-35300A47C2B9}"/>
              </a:ext>
            </a:extLst>
          </p:cNvPr>
          <p:cNvSpPr>
            <a:spLocks xmlns:a="http://schemas.openxmlformats.org/drawingml/2006/main" noGrp="1"/>
          </p:cNvSpPr>
          <p:nvPr/>
        </p:nvSpPr>
        <p:spPr>
          <a:xfrm xmlns:a="http://schemas.openxmlformats.org/drawingml/2006/main">
            <a:off x="9124950" y="2733675"/>
            <a:ext cx="2190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087E80"/>
                </a:solidFill>
                <a:latin typeface="Arial"/>
                <a:ea typeface="Arial"/>
                <a:cs typeface="Arial"/>
              </a:defRPr>
            </a:pPr>
            <a:r>
              <a:rPr sz="1425" b="1">
                <a:solidFill>
                  <a:srgbClr val="087E80"/>
                </a:solidFill>
                <a:latin typeface="Arial"/>
                <a:ea typeface="Arial"/>
                <a:cs typeface="Arial"/>
              </a:rPr>
              <a:t>PLANNING ENGINE</a:t>
            </a:r>
          </a:p>
        </p:txBody>
      </p:sp>
      <p:sp>
        <p:nvSpPr>
          <p:cNvPr id="21" name="">
            <a:extLst xmlns:a="http://schemas.openxmlformats.org/drawingml/2006/main">
              <a:ext uri="{FF2B5EF4-FFF2-40B4-BE49-F238E27FC236}">
                <a16:creationId xmlns:a16="http://schemas.microsoft.com/office/drawing/2014/main" id="{2AB607FD-A7C5-4315-89D1-5AD44DB1672C}"/>
              </a:ext>
            </a:extLst>
          </p:cNvPr>
          <p:cNvSpPr>
            <a:spLocks xmlns:a="http://schemas.openxmlformats.org/drawingml/2006/main" noGrp="1"/>
          </p:cNvSpPr>
          <p:nvPr/>
        </p:nvSpPr>
        <p:spPr>
          <a:xfrm xmlns:a="http://schemas.openxmlformats.org/drawingml/2006/main">
            <a:off x="9124950" y="3124200"/>
            <a:ext cx="2190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7380"/>
          </a:bodyPr>
          <a:lstStyle xmlns:a="http://schemas.openxmlformats.org/drawingml/2006/main"/>
          <a:p xmlns:a="http://schemas.openxmlformats.org/drawingml/2006/main">
            <a:pPr algn="l">
              <a:defRPr sz="1350" b="0">
                <a:solidFill>
                  <a:srgbClr val="172B3C"/>
                </a:solidFill>
                <a:latin typeface="Arial"/>
                <a:ea typeface="Arial"/>
                <a:cs typeface="Arial"/>
              </a:defRPr>
            </a:pPr>
            <a:r>
              <a:rPr sz="1350" b="0">
                <a:solidFill>
                  <a:srgbClr val="172B3C"/>
                </a:solidFill>
                <a:latin typeface="Arial"/>
                <a:ea typeface="Arial"/>
                <a:cs typeface="Arial"/>
              </a:rPr>
              <a:t>Rank safe maintenance windows</a:t>
            </a:r>
          </a:p>
          <a:p xmlns:a="http://schemas.openxmlformats.org/drawingml/2006/main">
            <a:pPr algn="l">
              <a:defRPr sz="1350" b="0">
                <a:solidFill>
                  <a:srgbClr val="172B3C"/>
                </a:solidFill>
                <a:latin typeface="Arial"/>
                <a:ea typeface="Arial"/>
                <a:cs typeface="Arial"/>
              </a:defRPr>
            </a:pPr>
            <a:r>
              <a:rPr sz="1350" b="0">
                <a:solidFill>
                  <a:srgbClr val="172B3C"/>
                </a:solidFill>
                <a:latin typeface="Arial"/>
                <a:ea typeface="Arial"/>
                <a:cs typeface="Arial"/>
              </a:rPr>
              <a:t>Highlight parts constraints</a:t>
            </a:r>
          </a:p>
          <a:p xmlns:a="http://schemas.openxmlformats.org/drawingml/2006/main">
            <a:pPr algn="l">
              <a:defRPr sz="1350" b="0">
                <a:solidFill>
                  <a:srgbClr val="172B3C"/>
                </a:solidFill>
                <a:latin typeface="Arial"/>
                <a:ea typeface="Arial"/>
                <a:cs typeface="Arial"/>
              </a:defRPr>
            </a:pPr>
            <a:r>
              <a:rPr sz="1350" b="0">
                <a:solidFill>
                  <a:srgbClr val="172B3C"/>
                </a:solidFill>
                <a:latin typeface="Arial"/>
                <a:ea typeface="Arial"/>
                <a:cs typeface="Arial"/>
              </a:rPr>
              <a:t>Show readiness by date</a:t>
            </a:r>
          </a:p>
        </p:txBody>
      </p:sp>
      <p:cxnSp>
        <p:nvCxnSpPr>
          <p:cNvPr id="49" name=""/>
          <p:cNvCxnSpPr>
            <a:stCxn xmlns:a="http://schemas.openxmlformats.org/drawingml/2006/main" id="10" idx="3"/>
            <a:endCxn xmlns:a="http://schemas.openxmlformats.org/drawingml/2006/main" id="19" idx="1"/>
          </p:cNvCxnSpPr>
          <p:nvPr/>
        </p:nvCxnSpPr>
        <p:spPr>
          <a:xfrm xmlns:a="http://schemas.openxmlformats.org/drawingml/2006/main">
            <a:off x="7762875" y="2152650"/>
            <a:ext cx="1152525" cy="1090613"/>
          </a:xfrm>
          <a:prstGeom xmlns:a="http://schemas.openxmlformats.org/drawingml/2006/main" prst="straightConnector1">
            <a:avLst/>
          </a:prstGeom>
          <a:ln xmlns:a="http://schemas.openxmlformats.org/drawingml/2006/main" w="19050">
            <a:solidFill>
              <a:srgbClr val="087E80"/>
            </a:solidFill>
            <a:prstDash val="solid"/>
            <a:tailEnd type="triangle" w="med" len="med"/>
          </a:ln>
        </p:spPr>
      </p:cxnSp>
      <p:cxnSp>
        <p:nvCxnSpPr>
          <p:cNvPr id="50" name=""/>
          <p:cNvCxnSpPr>
            <a:stCxn xmlns:a="http://schemas.openxmlformats.org/drawingml/2006/main" id="13" idx="3"/>
            <a:endCxn xmlns:a="http://schemas.openxmlformats.org/drawingml/2006/main" id="19" idx="1"/>
          </p:cNvCxnSpPr>
          <p:nvPr/>
        </p:nvCxnSpPr>
        <p:spPr>
          <a:xfrm xmlns:a="http://schemas.openxmlformats.org/drawingml/2006/main" flipV="1">
            <a:off x="7762875" y="3243263"/>
            <a:ext cx="1152525" cy="100013"/>
          </a:xfrm>
          <a:prstGeom xmlns:a="http://schemas.openxmlformats.org/drawingml/2006/main" prst="straightConnector1">
            <a:avLst/>
          </a:prstGeom>
          <a:ln xmlns:a="http://schemas.openxmlformats.org/drawingml/2006/main" w="19050">
            <a:solidFill>
              <a:srgbClr val="087E80"/>
            </a:solidFill>
            <a:prstDash val="solid"/>
            <a:tailEnd type="triangle" w="med" len="med"/>
          </a:ln>
        </p:spPr>
      </p:cxnSp>
      <p:cxnSp>
        <p:nvCxnSpPr>
          <p:cNvPr id="51" name=""/>
          <p:cNvCxnSpPr>
            <a:stCxn xmlns:a="http://schemas.openxmlformats.org/drawingml/2006/main" id="16" idx="3"/>
            <a:endCxn xmlns:a="http://schemas.openxmlformats.org/drawingml/2006/main" id="19" idx="1"/>
          </p:cNvCxnSpPr>
          <p:nvPr/>
        </p:nvCxnSpPr>
        <p:spPr>
          <a:xfrm xmlns:a="http://schemas.openxmlformats.org/drawingml/2006/main" flipV="1">
            <a:off x="7762875" y="3243263"/>
            <a:ext cx="1152525" cy="1290638"/>
          </a:xfrm>
          <a:prstGeom xmlns:a="http://schemas.openxmlformats.org/drawingml/2006/main" prst="straightConnector1">
            <a:avLst/>
          </a:prstGeom>
          <a:ln xmlns:a="http://schemas.openxmlformats.org/drawingml/2006/main" w="19050">
            <a:solidFill>
              <a:srgbClr val="087E80"/>
            </a:solidFill>
            <a:prstDash val="solid"/>
            <a:tailEnd type="triangle" w="med" len="med"/>
          </a:ln>
        </p:spPr>
      </p:cxnSp>
      <p:sp>
        <p:nvSpPr>
          <p:cNvPr id="25" name="">
            <a:extLst xmlns:a="http://schemas.openxmlformats.org/drawingml/2006/main">
              <a:ext uri="{FF2B5EF4-FFF2-40B4-BE49-F238E27FC236}">
                <a16:creationId xmlns:a16="http://schemas.microsoft.com/office/drawing/2014/main" id="{230C43EF-8C6A-4500-9E6C-3042AD8B9A06}"/>
              </a:ext>
            </a:extLst>
          </p:cNvPr>
          <p:cNvSpPr>
            <a:spLocks xmlns:a="http://schemas.openxmlformats.org/drawingml/2006/main" noGrp="1"/>
          </p:cNvSpPr>
          <p:nvPr/>
        </p:nvSpPr>
        <p:spPr>
          <a:xfrm xmlns:a="http://schemas.openxmlformats.org/drawingml/2006/main">
            <a:off x="552450" y="5143500"/>
            <a:ext cx="10953750" cy="0"/>
          </a:xfrm>
          <a:prstGeom xmlns:a="http://schemas.openxmlformats.org/drawingml/2006/main" prst="line">
            <a:avLst/>
          </a:prstGeom>
          <a:noFill xmlns:a="http://schemas.openxmlformats.org/drawingml/2006/main"/>
          <a:ln xmlns:a="http://schemas.openxmlformats.org/drawingml/2006/main" w="9525">
            <a:solidFill>
              <a:srgbClr val="D8E1E7"/>
            </a:solidFill>
            <a:prstDash val="solid"/>
          </a:ln>
        </p:spPr>
      </p:sp>
      <p:sp>
        <p:nvSpPr>
          <p:cNvPr id="26" name="">
            <a:extLst xmlns:a="http://schemas.openxmlformats.org/drawingml/2006/main">
              <a:ext uri="{FF2B5EF4-FFF2-40B4-BE49-F238E27FC236}">
                <a16:creationId xmlns:a16="http://schemas.microsoft.com/office/drawing/2014/main" id="{245FF15C-0C78-457C-8162-9CACB50D9EC6}"/>
              </a:ext>
            </a:extLst>
          </p:cNvPr>
          <p:cNvSpPr>
            <a:spLocks xmlns:a="http://schemas.openxmlformats.org/drawingml/2006/main" noGrp="1"/>
          </p:cNvSpPr>
          <p:nvPr/>
        </p:nvSpPr>
        <p:spPr>
          <a:xfrm xmlns:a="http://schemas.openxmlformats.org/drawingml/2006/main">
            <a:off x="647700" y="5343525"/>
            <a:ext cx="107632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0263B"/>
                </a:solidFill>
                <a:latin typeface="Arial"/>
                <a:ea typeface="Arial"/>
                <a:cs typeface="Arial"/>
              </a:defRPr>
            </a:pPr>
            <a:r>
              <a:rPr sz="1350" b="1">
                <a:solidFill>
                  <a:srgbClr val="10263B"/>
                </a:solidFill>
                <a:latin typeface="Arial"/>
                <a:ea typeface="Arial"/>
                <a:cs typeface="Arial"/>
              </a:rPr>
              <a:t>Forecast output</a:t>
            </a:r>
          </a:p>
        </p:txBody>
      </p:sp>
      <p:sp>
        <p:nvSpPr>
          <p:cNvPr id="27" name="">
            <a:extLst xmlns:a="http://schemas.openxmlformats.org/drawingml/2006/main">
              <a:ext uri="{FF2B5EF4-FFF2-40B4-BE49-F238E27FC236}">
                <a16:creationId xmlns:a16="http://schemas.microsoft.com/office/drawing/2014/main" id="{C292B0BB-1C26-4AB7-B1EB-F60415F3AA46}"/>
              </a:ext>
            </a:extLst>
          </p:cNvPr>
          <p:cNvSpPr>
            <a:spLocks xmlns:a="http://schemas.openxmlformats.org/drawingml/2006/main" noGrp="1"/>
          </p:cNvSpPr>
          <p:nvPr/>
        </p:nvSpPr>
        <p:spPr>
          <a:xfrm xmlns:a="http://schemas.openxmlformats.org/drawingml/2006/main">
            <a:off x="647700" y="5676900"/>
            <a:ext cx="10715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5E7282"/>
                </a:solidFill>
                <a:latin typeface="Arial"/>
                <a:ea typeface="Arial"/>
                <a:cs typeface="Arial"/>
              </a:defRPr>
            </a:pPr>
            <a:r>
              <a:rPr sz="1350" b="0">
                <a:solidFill>
                  <a:srgbClr val="5E7282"/>
                </a:solidFill>
                <a:latin typeface="Arial"/>
                <a:ea typeface="Arial"/>
                <a:cs typeface="Arial"/>
              </a:rPr>
              <a:t>Expected serviceable count by date  ·  aircraft blocked by missing parts  ·  tasks at risk of delay  ·  “why” behind each forecast</a:t>
            </a:r>
          </a:p>
        </p:txBody>
      </p:sp>
    </p:spTree>
    <p:extLst>
      <p:ext uri="{BB962C8B-B14F-4D97-AF65-F5344CB8AC3E}">
        <p14:creationId xmlns:p14="http://schemas.microsoft.com/office/powerpoint/2010/main" val="139587309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AFE33DB7-B9AE-45D6-9CC1-0E0B5FF0B43E}"/>
              </a:ext>
            </a:extLst>
          </p:cNvPr>
          <p:cNvSpPr>
            <a:spLocks xmlns:a="http://schemas.openxmlformats.org/drawingml/2006/main" noGrp="1"/>
          </p:cNvSpPr>
          <p:nvPr/>
        </p:nvSpPr>
        <p:spPr>
          <a:xfrm xmlns:a="http://schemas.openxmlformats.org/drawingml/2006/main">
            <a:off x="514350" y="323850"/>
            <a:ext cx="10763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150" b="1">
                <a:solidFill>
                  <a:srgbClr val="10263B"/>
                </a:solidFill>
                <a:latin typeface="Arial"/>
                <a:ea typeface="Arial"/>
                <a:cs typeface="Arial"/>
              </a:defRPr>
            </a:pPr>
            <a:r>
              <a:rPr sz="3150" b="1">
                <a:solidFill>
                  <a:srgbClr val="10263B"/>
                </a:solidFill>
                <a:latin typeface="Arial"/>
                <a:ea typeface="Arial"/>
                <a:cs typeface="Arial"/>
              </a:rPr>
              <a:t>Secure rollout and data requirements</a:t>
            </a:r>
          </a:p>
        </p:txBody>
      </p:sp>
      <p:sp>
        <p:nvSpPr>
          <p:cNvPr id="2" name="">
            <a:extLst xmlns:a="http://schemas.openxmlformats.org/drawingml/2006/main">
              <a:ext uri="{FF2B5EF4-FFF2-40B4-BE49-F238E27FC236}">
                <a16:creationId xmlns:a16="http://schemas.microsoft.com/office/drawing/2014/main" id="{CA98B20D-7551-4BDD-8352-7C8B923F6938}"/>
              </a:ext>
            </a:extLst>
          </p:cNvPr>
          <p:cNvSpPr>
            <a:spLocks xmlns:a="http://schemas.openxmlformats.org/drawingml/2006/main" noGrp="1"/>
          </p:cNvSpPr>
          <p:nvPr/>
        </p:nvSpPr>
        <p:spPr>
          <a:xfrm xmlns:a="http://schemas.openxmlformats.org/drawingml/2006/main">
            <a:off x="533400" y="8763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5E7282"/>
                </a:solidFill>
                <a:latin typeface="Arial"/>
                <a:ea typeface="Arial"/>
                <a:cs typeface="Arial"/>
              </a:defRPr>
            </a:pPr>
            <a:r>
              <a:rPr sz="1575" b="0">
                <a:solidFill>
                  <a:srgbClr val="5E7282"/>
                </a:solidFill>
                <a:latin typeface="Arial"/>
                <a:ea typeface="Arial"/>
                <a:cs typeface="Arial"/>
              </a:rPr>
              <a:t>Start with a small authorized pilot, prove value, then extend across platforms</a:t>
            </a:r>
          </a:p>
        </p:txBody>
      </p:sp>
      <p:sp>
        <p:nvSpPr>
          <p:cNvPr id="3" name="">
            <a:extLst xmlns:a="http://schemas.openxmlformats.org/drawingml/2006/main">
              <a:ext uri="{FF2B5EF4-FFF2-40B4-BE49-F238E27FC236}">
                <a16:creationId xmlns:a16="http://schemas.microsoft.com/office/drawing/2014/main" id="{2AF42E65-D46F-4C56-8833-3CEC43DE6B9C}"/>
              </a:ext>
            </a:extLst>
          </p:cNvPr>
          <p:cNvSpPr>
            <a:spLocks xmlns:a="http://schemas.openxmlformats.org/drawingml/2006/main" noGrp="1"/>
          </p:cNvSpPr>
          <p:nvPr/>
        </p:nvSpPr>
        <p:spPr>
          <a:xfrm xmlns:a="http://schemas.openxmlformats.org/drawingml/2006/main">
            <a:off x="514350" y="6334125"/>
            <a:ext cx="11163300" cy="0"/>
          </a:xfrm>
          <a:prstGeom xmlns:a="http://schemas.openxmlformats.org/drawingml/2006/main" prst="line">
            <a:avLst/>
          </a:prstGeom>
          <a:noFill xmlns:a="http://schemas.openxmlformats.org/drawingml/2006/main"/>
          <a:ln xmlns:a="http://schemas.openxmlformats.org/drawingml/2006/main" w="9525">
            <a:solidFill>
              <a:srgbClr val="D8E1E7"/>
            </a:solidFill>
            <a:prstDash val="solid"/>
          </a:ln>
        </p:spPr>
      </p:sp>
      <p:sp>
        <p:nvSpPr>
          <p:cNvPr id="4" name="">
            <a:extLst xmlns:a="http://schemas.openxmlformats.org/drawingml/2006/main">
              <a:ext uri="{FF2B5EF4-FFF2-40B4-BE49-F238E27FC236}">
                <a16:creationId xmlns:a16="http://schemas.microsoft.com/office/drawing/2014/main" id="{6A304065-C44B-4D09-A5B1-F66226CC870B}"/>
              </a:ext>
            </a:extLst>
          </p:cNvPr>
          <p:cNvSpPr>
            <a:spLocks xmlns:a="http://schemas.openxmlformats.org/drawingml/2006/main" noGrp="1"/>
          </p:cNvSpPr>
          <p:nvPr/>
        </p:nvSpPr>
        <p:spPr>
          <a:xfrm xmlns:a="http://schemas.openxmlformats.org/drawingml/2006/main">
            <a:off x="514350" y="6448425"/>
            <a:ext cx="7429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5E7282"/>
                </a:solidFill>
                <a:latin typeface="Arial"/>
                <a:ea typeface="Arial"/>
                <a:cs typeface="Arial"/>
              </a:defRPr>
            </a:pPr>
            <a:r>
              <a:rPr sz="900" b="1">
                <a:solidFill>
                  <a:srgbClr val="5E7282"/>
                </a:solidFill>
                <a:latin typeface="Arial"/>
                <a:ea typeface="Arial"/>
                <a:cs typeface="Arial"/>
              </a:rPr>
              <a:t>AIR POWER  /  PREDICTIVE MAINTENANCE TECHNICAL APPROACH</a:t>
            </a:r>
          </a:p>
        </p:txBody>
      </p:sp>
      <p:sp>
        <p:nvSpPr>
          <p:cNvPr id="5" name="">
            <a:extLst xmlns:a="http://schemas.openxmlformats.org/drawingml/2006/main">
              <a:ext uri="{FF2B5EF4-FFF2-40B4-BE49-F238E27FC236}">
                <a16:creationId xmlns:a16="http://schemas.microsoft.com/office/drawing/2014/main" id="{4BE96CFE-BA23-4E69-BECF-E7622DFE6E92}"/>
              </a:ext>
            </a:extLst>
          </p:cNvPr>
          <p:cNvSpPr>
            <a:spLocks xmlns:a="http://schemas.openxmlformats.org/drawingml/2006/main" noGrp="1"/>
          </p:cNvSpPr>
          <p:nvPr/>
        </p:nvSpPr>
        <p:spPr>
          <a:xfrm xmlns:a="http://schemas.openxmlformats.org/drawingml/2006/main">
            <a:off x="11277600" y="641985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5E7282"/>
                </a:solidFill>
                <a:latin typeface="Arial"/>
                <a:ea typeface="Arial"/>
                <a:cs typeface="Arial"/>
              </a:defRPr>
            </a:pPr>
            <a:r>
              <a:rPr sz="1050" b="1">
                <a:solidFill>
                  <a:srgbClr val="5E7282"/>
                </a:solidFill>
                <a:latin typeface="Arial"/>
                <a:ea typeface="Arial"/>
                <a:cs typeface="Arial"/>
              </a:rPr>
              <a:t>06</a:t>
            </a:r>
          </a:p>
        </p:txBody>
      </p:sp>
      <p:sp>
        <p:nvSpPr>
          <p:cNvPr id="6" name="">
            <a:extLst xmlns:a="http://schemas.openxmlformats.org/drawingml/2006/main">
              <a:ext uri="{FF2B5EF4-FFF2-40B4-BE49-F238E27FC236}">
                <a16:creationId xmlns:a16="http://schemas.microsoft.com/office/drawing/2014/main" id="{859EE955-E6D0-4F38-B6A9-0CD27DC490A4}"/>
              </a:ext>
            </a:extLst>
          </p:cNvPr>
          <p:cNvSpPr>
            <a:spLocks xmlns:a="http://schemas.openxmlformats.org/drawingml/2006/main" noGrp="1"/>
          </p:cNvSpPr>
          <p:nvPr/>
        </p:nvSpPr>
        <p:spPr>
          <a:xfrm xmlns:a="http://schemas.openxmlformats.org/drawingml/2006/main">
            <a:off x="514350" y="1619250"/>
            <a:ext cx="1952625" cy="1428750"/>
          </a:xfrm>
          <a:prstGeom xmlns:a="http://schemas.openxmlformats.org/drawingml/2006/main" prst="roundRect">
            <a:avLst>
              <a:gd name="adj" fmla="val 7333"/>
            </a:avLst>
          </a:prstGeom>
          <a:solidFill xmlns:a="http://schemas.openxmlformats.org/drawingml/2006/main">
            <a:srgbClr val="F2F6F8"/>
          </a:solidFill>
          <a:ln xmlns:a="http://schemas.openxmlformats.org/drawingml/2006/main" w="9525">
            <a:solidFill>
              <a:srgbClr val="D8E1E7"/>
            </a:solidFill>
            <a:prstDash val="solid"/>
          </a:ln>
        </p:spPr>
      </p:sp>
      <p:sp>
        <p:nvSpPr>
          <p:cNvPr id="7" name="">
            <a:extLst xmlns:a="http://schemas.openxmlformats.org/drawingml/2006/main">
              <a:ext uri="{FF2B5EF4-FFF2-40B4-BE49-F238E27FC236}">
                <a16:creationId xmlns:a16="http://schemas.microsoft.com/office/drawing/2014/main" id="{16858434-D97E-48D6-A170-7E02FA5DC348}"/>
              </a:ext>
            </a:extLst>
          </p:cNvPr>
          <p:cNvSpPr>
            <a:spLocks xmlns:a="http://schemas.openxmlformats.org/drawingml/2006/main" noGrp="1"/>
          </p:cNvSpPr>
          <p:nvPr/>
        </p:nvSpPr>
        <p:spPr>
          <a:xfrm xmlns:a="http://schemas.openxmlformats.org/drawingml/2006/main">
            <a:off x="657225" y="1762125"/>
            <a:ext cx="285750" cy="285750"/>
          </a:xfrm>
          <a:prstGeom xmlns:a="http://schemas.openxmlformats.org/drawingml/2006/main" prst="ellipse">
            <a:avLst/>
          </a:prstGeom>
          <a:solidFill xmlns:a="http://schemas.openxmlformats.org/drawingml/2006/main">
            <a:srgbClr val="087E80"/>
          </a:solidFill>
          <a:ln xmlns:a="http://schemas.openxmlformats.org/drawingml/2006/main" w="0">
            <a:solidFill>
              <a:srgbClr val="087E80"/>
            </a:solidFill>
            <a:prstDash val="solid"/>
          </a:ln>
        </p:spPr>
      </p:sp>
      <p:sp>
        <p:nvSpPr>
          <p:cNvPr id="8" name="">
            <a:extLst xmlns:a="http://schemas.openxmlformats.org/drawingml/2006/main">
              <a:ext uri="{FF2B5EF4-FFF2-40B4-BE49-F238E27FC236}">
                <a16:creationId xmlns:a16="http://schemas.microsoft.com/office/drawing/2014/main" id="{48A3D39F-7D16-4981-8156-EC30965E050B}"/>
              </a:ext>
            </a:extLst>
          </p:cNvPr>
          <p:cNvSpPr>
            <a:spLocks xmlns:a="http://schemas.openxmlformats.org/drawingml/2006/main" noGrp="1"/>
          </p:cNvSpPr>
          <p:nvPr/>
        </p:nvSpPr>
        <p:spPr>
          <a:xfrm xmlns:a="http://schemas.openxmlformats.org/drawingml/2006/main">
            <a:off x="657225" y="180975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1</a:t>
            </a:r>
          </a:p>
        </p:txBody>
      </p:sp>
      <p:sp>
        <p:nvSpPr>
          <p:cNvPr id="9" name="">
            <a:extLst xmlns:a="http://schemas.openxmlformats.org/drawingml/2006/main">
              <a:ext uri="{FF2B5EF4-FFF2-40B4-BE49-F238E27FC236}">
                <a16:creationId xmlns:a16="http://schemas.microsoft.com/office/drawing/2014/main" id="{9A2AA339-0FE2-4DB4-8A1F-A727B1064A86}"/>
              </a:ext>
            </a:extLst>
          </p:cNvPr>
          <p:cNvSpPr>
            <a:spLocks xmlns:a="http://schemas.openxmlformats.org/drawingml/2006/main" noGrp="1"/>
          </p:cNvSpPr>
          <p:nvPr/>
        </p:nvSpPr>
        <p:spPr>
          <a:xfrm xmlns:a="http://schemas.openxmlformats.org/drawingml/2006/main">
            <a:off x="1047750" y="1781175"/>
            <a:ext cx="1285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087E80"/>
                </a:solidFill>
                <a:latin typeface="Arial"/>
                <a:ea typeface="Arial"/>
                <a:cs typeface="Arial"/>
              </a:defRPr>
            </a:pPr>
            <a:r>
              <a:rPr sz="1200" b="1">
                <a:solidFill>
                  <a:srgbClr val="087E80"/>
                </a:solidFill>
                <a:latin typeface="Arial"/>
                <a:ea typeface="Arial"/>
                <a:cs typeface="Arial"/>
              </a:rPr>
              <a:t>DISCOVER</a:t>
            </a:r>
          </a:p>
        </p:txBody>
      </p:sp>
      <p:sp>
        <p:nvSpPr>
          <p:cNvPr id="10" name="">
            <a:extLst xmlns:a="http://schemas.openxmlformats.org/drawingml/2006/main">
              <a:ext uri="{FF2B5EF4-FFF2-40B4-BE49-F238E27FC236}">
                <a16:creationId xmlns:a16="http://schemas.microsoft.com/office/drawing/2014/main" id="{9B806752-272D-4288-85C4-10A6E96D3815}"/>
              </a:ext>
            </a:extLst>
          </p:cNvPr>
          <p:cNvSpPr>
            <a:spLocks xmlns:a="http://schemas.openxmlformats.org/drawingml/2006/main" noGrp="1"/>
          </p:cNvSpPr>
          <p:nvPr/>
        </p:nvSpPr>
        <p:spPr>
          <a:xfrm xmlns:a="http://schemas.openxmlformats.org/drawingml/2006/main">
            <a:off x="666750" y="2181225"/>
            <a:ext cx="1647825"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172B3C"/>
                </a:solidFill>
                <a:latin typeface="Arial"/>
                <a:ea typeface="Arial"/>
                <a:cs typeface="Arial"/>
              </a:defRPr>
            </a:pPr>
            <a:r>
              <a:rPr sz="1275" b="0">
                <a:solidFill>
                  <a:srgbClr val="172B3C"/>
                </a:solidFill>
                <a:latin typeface="Arial"/>
                <a:ea typeface="Arial"/>
                <a:cs typeface="Arial"/>
              </a:rPr>
              <a:t>Confirm owner, data authority,</a:t>
            </a:r>
          </a:p>
          <a:p xmlns:a="http://schemas.openxmlformats.org/drawingml/2006/main">
            <a:pPr algn="l">
              <a:defRPr sz="1275" b="0">
                <a:solidFill>
                  <a:srgbClr val="172B3C"/>
                </a:solidFill>
                <a:latin typeface="Arial"/>
                <a:ea typeface="Arial"/>
                <a:cs typeface="Arial"/>
              </a:defRPr>
            </a:pPr>
            <a:r>
              <a:rPr sz="1275" b="0">
                <a:solidFill>
                  <a:srgbClr val="172B3C"/>
                </a:solidFill>
                <a:latin typeface="Arial"/>
                <a:ea typeface="Arial"/>
                <a:cs typeface="Arial"/>
              </a:rPr>
              <a:t>platform and approved network</a:t>
            </a:r>
          </a:p>
        </p:txBody>
      </p:sp>
      <p:sp>
        <p:nvSpPr>
          <p:cNvPr id="11" name="">
            <a:extLst xmlns:a="http://schemas.openxmlformats.org/drawingml/2006/main">
              <a:ext uri="{FF2B5EF4-FFF2-40B4-BE49-F238E27FC236}">
                <a16:creationId xmlns:a16="http://schemas.microsoft.com/office/drawing/2014/main" id="{392B4FE8-21F4-4F39-B904-BC81673E8859}"/>
              </a:ext>
            </a:extLst>
          </p:cNvPr>
          <p:cNvSpPr>
            <a:spLocks xmlns:a="http://schemas.openxmlformats.org/drawingml/2006/main" noGrp="1"/>
          </p:cNvSpPr>
          <p:nvPr/>
        </p:nvSpPr>
        <p:spPr>
          <a:xfrm xmlns:a="http://schemas.openxmlformats.org/drawingml/2006/main">
            <a:off x="2771775" y="1619250"/>
            <a:ext cx="1952625" cy="1428750"/>
          </a:xfrm>
          <a:prstGeom xmlns:a="http://schemas.openxmlformats.org/drawingml/2006/main" prst="roundRect">
            <a:avLst>
              <a:gd name="adj" fmla="val 7333"/>
            </a:avLst>
          </a:prstGeom>
          <a:solidFill xmlns:a="http://schemas.openxmlformats.org/drawingml/2006/main">
            <a:srgbClr val="F2F6F8"/>
          </a:solidFill>
          <a:ln xmlns:a="http://schemas.openxmlformats.org/drawingml/2006/main" w="9525">
            <a:solidFill>
              <a:srgbClr val="D8E1E7"/>
            </a:solidFill>
            <a:prstDash val="solid"/>
          </a:ln>
        </p:spPr>
      </p:sp>
      <p:sp>
        <p:nvSpPr>
          <p:cNvPr id="12" name="">
            <a:extLst xmlns:a="http://schemas.openxmlformats.org/drawingml/2006/main">
              <a:ext uri="{FF2B5EF4-FFF2-40B4-BE49-F238E27FC236}">
                <a16:creationId xmlns:a16="http://schemas.microsoft.com/office/drawing/2014/main" id="{9FFC35FF-F9BF-4EA6-8C0A-C4C19DC1B723}"/>
              </a:ext>
            </a:extLst>
          </p:cNvPr>
          <p:cNvSpPr>
            <a:spLocks xmlns:a="http://schemas.openxmlformats.org/drawingml/2006/main" noGrp="1"/>
          </p:cNvSpPr>
          <p:nvPr/>
        </p:nvSpPr>
        <p:spPr>
          <a:xfrm xmlns:a="http://schemas.openxmlformats.org/drawingml/2006/main">
            <a:off x="2914650" y="1762125"/>
            <a:ext cx="285750" cy="285750"/>
          </a:xfrm>
          <a:prstGeom xmlns:a="http://schemas.openxmlformats.org/drawingml/2006/main" prst="ellipse">
            <a:avLst/>
          </a:prstGeom>
          <a:solidFill xmlns:a="http://schemas.openxmlformats.org/drawingml/2006/main">
            <a:srgbClr val="087E80"/>
          </a:solidFill>
          <a:ln xmlns:a="http://schemas.openxmlformats.org/drawingml/2006/main" w="0">
            <a:solidFill>
              <a:srgbClr val="087E80"/>
            </a:solidFill>
            <a:prstDash val="solid"/>
          </a:ln>
        </p:spPr>
      </p:sp>
      <p:sp>
        <p:nvSpPr>
          <p:cNvPr id="13" name="">
            <a:extLst xmlns:a="http://schemas.openxmlformats.org/drawingml/2006/main">
              <a:ext uri="{FF2B5EF4-FFF2-40B4-BE49-F238E27FC236}">
                <a16:creationId xmlns:a16="http://schemas.microsoft.com/office/drawing/2014/main" id="{788A1AD6-EF23-48BC-A6A1-37223B3FAC1E}"/>
              </a:ext>
            </a:extLst>
          </p:cNvPr>
          <p:cNvSpPr>
            <a:spLocks xmlns:a="http://schemas.openxmlformats.org/drawingml/2006/main" noGrp="1"/>
          </p:cNvSpPr>
          <p:nvPr/>
        </p:nvSpPr>
        <p:spPr>
          <a:xfrm xmlns:a="http://schemas.openxmlformats.org/drawingml/2006/main">
            <a:off x="2914650" y="180975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2</a:t>
            </a:r>
          </a:p>
        </p:txBody>
      </p:sp>
      <p:sp>
        <p:nvSpPr>
          <p:cNvPr id="14" name="">
            <a:extLst xmlns:a="http://schemas.openxmlformats.org/drawingml/2006/main">
              <a:ext uri="{FF2B5EF4-FFF2-40B4-BE49-F238E27FC236}">
                <a16:creationId xmlns:a16="http://schemas.microsoft.com/office/drawing/2014/main" id="{4E141B9D-6A11-401F-B3E1-4382F763F2CB}"/>
              </a:ext>
            </a:extLst>
          </p:cNvPr>
          <p:cNvSpPr>
            <a:spLocks xmlns:a="http://schemas.openxmlformats.org/drawingml/2006/main" noGrp="1"/>
          </p:cNvSpPr>
          <p:nvPr/>
        </p:nvSpPr>
        <p:spPr>
          <a:xfrm xmlns:a="http://schemas.openxmlformats.org/drawingml/2006/main">
            <a:off x="3305175" y="1781175"/>
            <a:ext cx="1285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087E80"/>
                </a:solidFill>
                <a:latin typeface="Arial"/>
                <a:ea typeface="Arial"/>
                <a:cs typeface="Arial"/>
              </a:defRPr>
            </a:pPr>
            <a:r>
              <a:rPr sz="1200" b="1">
                <a:solidFill>
                  <a:srgbClr val="087E80"/>
                </a:solidFill>
                <a:latin typeface="Arial"/>
                <a:ea typeface="Arial"/>
                <a:cs typeface="Arial"/>
              </a:rPr>
              <a:t>CONNECT</a:t>
            </a:r>
          </a:p>
        </p:txBody>
      </p:sp>
      <p:sp>
        <p:nvSpPr>
          <p:cNvPr id="15" name="">
            <a:extLst xmlns:a="http://schemas.openxmlformats.org/drawingml/2006/main">
              <a:ext uri="{FF2B5EF4-FFF2-40B4-BE49-F238E27FC236}">
                <a16:creationId xmlns:a16="http://schemas.microsoft.com/office/drawing/2014/main" id="{CA593927-8FB6-43C0-8AC3-A1C3C05F8A3E}"/>
              </a:ext>
            </a:extLst>
          </p:cNvPr>
          <p:cNvSpPr>
            <a:spLocks xmlns:a="http://schemas.openxmlformats.org/drawingml/2006/main" noGrp="1"/>
          </p:cNvSpPr>
          <p:nvPr/>
        </p:nvSpPr>
        <p:spPr>
          <a:xfrm xmlns:a="http://schemas.openxmlformats.org/drawingml/2006/main">
            <a:off x="2924175" y="2181225"/>
            <a:ext cx="1647825"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172B3C"/>
                </a:solidFill>
                <a:latin typeface="Arial"/>
                <a:ea typeface="Arial"/>
                <a:cs typeface="Arial"/>
              </a:defRPr>
            </a:pPr>
            <a:r>
              <a:rPr sz="1275" b="0">
                <a:solidFill>
                  <a:srgbClr val="172B3C"/>
                </a:solidFill>
                <a:latin typeface="Arial"/>
                <a:ea typeface="Arial"/>
                <a:cs typeface="Arial"/>
              </a:rPr>
              <a:t>Map real feeds; validate IDs,</a:t>
            </a:r>
          </a:p>
          <a:p xmlns:a="http://schemas.openxmlformats.org/drawingml/2006/main">
            <a:pPr algn="l">
              <a:defRPr sz="1275" b="0">
                <a:solidFill>
                  <a:srgbClr val="172B3C"/>
                </a:solidFill>
                <a:latin typeface="Arial"/>
                <a:ea typeface="Arial"/>
                <a:cs typeface="Arial"/>
              </a:defRPr>
            </a:pPr>
            <a:r>
              <a:rPr sz="1275" b="0">
                <a:solidFill>
                  <a:srgbClr val="172B3C"/>
                </a:solidFill>
                <a:latin typeface="Arial"/>
                <a:ea typeface="Arial"/>
                <a:cs typeface="Arial"/>
              </a:rPr>
              <a:t>time, units and status</a:t>
            </a:r>
          </a:p>
        </p:txBody>
      </p:sp>
      <p:sp>
        <p:nvSpPr>
          <p:cNvPr id="16" name="">
            <a:extLst xmlns:a="http://schemas.openxmlformats.org/drawingml/2006/main">
              <a:ext uri="{FF2B5EF4-FFF2-40B4-BE49-F238E27FC236}">
                <a16:creationId xmlns:a16="http://schemas.microsoft.com/office/drawing/2014/main" id="{7AFCAFA8-1B89-43F4-8080-616BFABE56A7}"/>
              </a:ext>
            </a:extLst>
          </p:cNvPr>
          <p:cNvSpPr>
            <a:spLocks xmlns:a="http://schemas.openxmlformats.org/drawingml/2006/main" noGrp="1"/>
          </p:cNvSpPr>
          <p:nvPr/>
        </p:nvSpPr>
        <p:spPr>
          <a:xfrm xmlns:a="http://schemas.openxmlformats.org/drawingml/2006/main">
            <a:off x="5029200" y="1619250"/>
            <a:ext cx="1952625" cy="1428750"/>
          </a:xfrm>
          <a:prstGeom xmlns:a="http://schemas.openxmlformats.org/drawingml/2006/main" prst="roundRect">
            <a:avLst>
              <a:gd name="adj" fmla="val 7333"/>
            </a:avLst>
          </a:prstGeom>
          <a:solidFill xmlns:a="http://schemas.openxmlformats.org/drawingml/2006/main">
            <a:srgbClr val="F2F6F8"/>
          </a:solidFill>
          <a:ln xmlns:a="http://schemas.openxmlformats.org/drawingml/2006/main" w="9525">
            <a:solidFill>
              <a:srgbClr val="D8E1E7"/>
            </a:solidFill>
            <a:prstDash val="solid"/>
          </a:ln>
        </p:spPr>
      </p:sp>
      <p:sp>
        <p:nvSpPr>
          <p:cNvPr id="17" name="">
            <a:extLst xmlns:a="http://schemas.openxmlformats.org/drawingml/2006/main">
              <a:ext uri="{FF2B5EF4-FFF2-40B4-BE49-F238E27FC236}">
                <a16:creationId xmlns:a16="http://schemas.microsoft.com/office/drawing/2014/main" id="{7FE87ADD-3DD1-4D08-9003-4D8758FEFE39}"/>
              </a:ext>
            </a:extLst>
          </p:cNvPr>
          <p:cNvSpPr>
            <a:spLocks xmlns:a="http://schemas.openxmlformats.org/drawingml/2006/main" noGrp="1"/>
          </p:cNvSpPr>
          <p:nvPr/>
        </p:nvSpPr>
        <p:spPr>
          <a:xfrm xmlns:a="http://schemas.openxmlformats.org/drawingml/2006/main">
            <a:off x="5172075" y="1762125"/>
            <a:ext cx="285750" cy="285750"/>
          </a:xfrm>
          <a:prstGeom xmlns:a="http://schemas.openxmlformats.org/drawingml/2006/main" prst="ellipse">
            <a:avLst/>
          </a:prstGeom>
          <a:solidFill xmlns:a="http://schemas.openxmlformats.org/drawingml/2006/main">
            <a:srgbClr val="087E80"/>
          </a:solidFill>
          <a:ln xmlns:a="http://schemas.openxmlformats.org/drawingml/2006/main" w="0">
            <a:solidFill>
              <a:srgbClr val="087E80"/>
            </a:solidFill>
            <a:prstDash val="solid"/>
          </a:ln>
        </p:spPr>
      </p:sp>
      <p:sp>
        <p:nvSpPr>
          <p:cNvPr id="18" name="">
            <a:extLst xmlns:a="http://schemas.openxmlformats.org/drawingml/2006/main">
              <a:ext uri="{FF2B5EF4-FFF2-40B4-BE49-F238E27FC236}">
                <a16:creationId xmlns:a16="http://schemas.microsoft.com/office/drawing/2014/main" id="{21F19D7B-5125-441F-AD3A-7CB5CFD5206C}"/>
              </a:ext>
            </a:extLst>
          </p:cNvPr>
          <p:cNvSpPr>
            <a:spLocks xmlns:a="http://schemas.openxmlformats.org/drawingml/2006/main" noGrp="1"/>
          </p:cNvSpPr>
          <p:nvPr/>
        </p:nvSpPr>
        <p:spPr>
          <a:xfrm xmlns:a="http://schemas.openxmlformats.org/drawingml/2006/main">
            <a:off x="5172075" y="180975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3</a:t>
            </a:r>
          </a:p>
        </p:txBody>
      </p:sp>
      <p:sp>
        <p:nvSpPr>
          <p:cNvPr id="19" name="">
            <a:extLst xmlns:a="http://schemas.openxmlformats.org/drawingml/2006/main">
              <a:ext uri="{FF2B5EF4-FFF2-40B4-BE49-F238E27FC236}">
                <a16:creationId xmlns:a16="http://schemas.microsoft.com/office/drawing/2014/main" id="{E3D7FB24-6494-40B8-B04E-72AF882099D6}"/>
              </a:ext>
            </a:extLst>
          </p:cNvPr>
          <p:cNvSpPr>
            <a:spLocks xmlns:a="http://schemas.openxmlformats.org/drawingml/2006/main" noGrp="1"/>
          </p:cNvSpPr>
          <p:nvPr/>
        </p:nvSpPr>
        <p:spPr>
          <a:xfrm xmlns:a="http://schemas.openxmlformats.org/drawingml/2006/main">
            <a:off x="5562600" y="1781175"/>
            <a:ext cx="1285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087E80"/>
                </a:solidFill>
                <a:latin typeface="Arial"/>
                <a:ea typeface="Arial"/>
                <a:cs typeface="Arial"/>
              </a:defRPr>
            </a:pPr>
            <a:r>
              <a:rPr sz="1200" b="1">
                <a:solidFill>
                  <a:srgbClr val="087E80"/>
                </a:solidFill>
                <a:latin typeface="Arial"/>
                <a:ea typeface="Arial"/>
                <a:cs typeface="Arial"/>
              </a:rPr>
              <a:t>SHADOW</a:t>
            </a:r>
          </a:p>
        </p:txBody>
      </p:sp>
      <p:sp>
        <p:nvSpPr>
          <p:cNvPr id="20" name="">
            <a:extLst xmlns:a="http://schemas.openxmlformats.org/drawingml/2006/main">
              <a:ext uri="{FF2B5EF4-FFF2-40B4-BE49-F238E27FC236}">
                <a16:creationId xmlns:a16="http://schemas.microsoft.com/office/drawing/2014/main" id="{40BAA705-FB1D-4224-A272-F5905509F0FB}"/>
              </a:ext>
            </a:extLst>
          </p:cNvPr>
          <p:cNvSpPr>
            <a:spLocks xmlns:a="http://schemas.openxmlformats.org/drawingml/2006/main" noGrp="1"/>
          </p:cNvSpPr>
          <p:nvPr/>
        </p:nvSpPr>
        <p:spPr>
          <a:xfrm xmlns:a="http://schemas.openxmlformats.org/drawingml/2006/main">
            <a:off x="5181600" y="2181225"/>
            <a:ext cx="1647825"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172B3C"/>
                </a:solidFill>
                <a:latin typeface="Arial"/>
                <a:ea typeface="Arial"/>
                <a:cs typeface="Arial"/>
              </a:defRPr>
            </a:pPr>
            <a:r>
              <a:rPr sz="1275" b="0">
                <a:solidFill>
                  <a:srgbClr val="172B3C"/>
                </a:solidFill>
                <a:latin typeface="Arial"/>
                <a:ea typeface="Arial"/>
                <a:cs typeface="Arial"/>
              </a:rPr>
              <a:t>Run alerts beside current process;</a:t>
            </a:r>
          </a:p>
          <a:p xmlns:a="http://schemas.openxmlformats.org/drawingml/2006/main">
            <a:pPr algn="l">
              <a:defRPr sz="1275" b="0">
                <a:solidFill>
                  <a:srgbClr val="172B3C"/>
                </a:solidFill>
                <a:latin typeface="Arial"/>
                <a:ea typeface="Arial"/>
                <a:cs typeface="Arial"/>
              </a:defRPr>
            </a:pPr>
            <a:r>
              <a:rPr sz="1275" b="0">
                <a:solidFill>
                  <a:srgbClr val="172B3C"/>
                </a:solidFill>
                <a:latin typeface="Arial"/>
                <a:ea typeface="Arial"/>
                <a:cs typeface="Arial"/>
              </a:rPr>
              <a:t>measure misses and false alarms</a:t>
            </a:r>
          </a:p>
        </p:txBody>
      </p:sp>
      <p:sp>
        <p:nvSpPr>
          <p:cNvPr id="21" name="">
            <a:extLst xmlns:a="http://schemas.openxmlformats.org/drawingml/2006/main">
              <a:ext uri="{FF2B5EF4-FFF2-40B4-BE49-F238E27FC236}">
                <a16:creationId xmlns:a16="http://schemas.microsoft.com/office/drawing/2014/main" id="{A500A40D-521A-4CB9-BD03-8AE81D38DC95}"/>
              </a:ext>
            </a:extLst>
          </p:cNvPr>
          <p:cNvSpPr>
            <a:spLocks xmlns:a="http://schemas.openxmlformats.org/drawingml/2006/main" noGrp="1"/>
          </p:cNvSpPr>
          <p:nvPr/>
        </p:nvSpPr>
        <p:spPr>
          <a:xfrm xmlns:a="http://schemas.openxmlformats.org/drawingml/2006/main">
            <a:off x="7286625" y="1619250"/>
            <a:ext cx="1952625" cy="1428750"/>
          </a:xfrm>
          <a:prstGeom xmlns:a="http://schemas.openxmlformats.org/drawingml/2006/main" prst="roundRect">
            <a:avLst>
              <a:gd name="adj" fmla="val 7333"/>
            </a:avLst>
          </a:prstGeom>
          <a:solidFill xmlns:a="http://schemas.openxmlformats.org/drawingml/2006/main">
            <a:srgbClr val="F2F6F8"/>
          </a:solidFill>
          <a:ln xmlns:a="http://schemas.openxmlformats.org/drawingml/2006/main" w="9525">
            <a:solidFill>
              <a:srgbClr val="D8E1E7"/>
            </a:solidFill>
            <a:prstDash val="solid"/>
          </a:ln>
        </p:spPr>
      </p:sp>
      <p:sp>
        <p:nvSpPr>
          <p:cNvPr id="22" name="">
            <a:extLst xmlns:a="http://schemas.openxmlformats.org/drawingml/2006/main">
              <a:ext uri="{FF2B5EF4-FFF2-40B4-BE49-F238E27FC236}">
                <a16:creationId xmlns:a16="http://schemas.microsoft.com/office/drawing/2014/main" id="{2422B4F0-FC9A-4235-8CD4-33BE1819276A}"/>
              </a:ext>
            </a:extLst>
          </p:cNvPr>
          <p:cNvSpPr>
            <a:spLocks xmlns:a="http://schemas.openxmlformats.org/drawingml/2006/main" noGrp="1"/>
          </p:cNvSpPr>
          <p:nvPr/>
        </p:nvSpPr>
        <p:spPr>
          <a:xfrm xmlns:a="http://schemas.openxmlformats.org/drawingml/2006/main">
            <a:off x="7429500" y="1762125"/>
            <a:ext cx="285750" cy="285750"/>
          </a:xfrm>
          <a:prstGeom xmlns:a="http://schemas.openxmlformats.org/drawingml/2006/main" prst="ellipse">
            <a:avLst/>
          </a:prstGeom>
          <a:solidFill xmlns:a="http://schemas.openxmlformats.org/drawingml/2006/main">
            <a:srgbClr val="087E80"/>
          </a:solidFill>
          <a:ln xmlns:a="http://schemas.openxmlformats.org/drawingml/2006/main" w="0">
            <a:solidFill>
              <a:srgbClr val="087E80"/>
            </a:solidFill>
            <a:prstDash val="solid"/>
          </a:ln>
        </p:spPr>
      </p:sp>
      <p:sp>
        <p:nvSpPr>
          <p:cNvPr id="23" name="">
            <a:extLst xmlns:a="http://schemas.openxmlformats.org/drawingml/2006/main">
              <a:ext uri="{FF2B5EF4-FFF2-40B4-BE49-F238E27FC236}">
                <a16:creationId xmlns:a16="http://schemas.microsoft.com/office/drawing/2014/main" id="{2F66CBDA-9A2B-437A-BE52-09A38182252F}"/>
              </a:ext>
            </a:extLst>
          </p:cNvPr>
          <p:cNvSpPr>
            <a:spLocks xmlns:a="http://schemas.openxmlformats.org/drawingml/2006/main" noGrp="1"/>
          </p:cNvSpPr>
          <p:nvPr/>
        </p:nvSpPr>
        <p:spPr>
          <a:xfrm xmlns:a="http://schemas.openxmlformats.org/drawingml/2006/main">
            <a:off x="7429500" y="180975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4</a:t>
            </a:r>
          </a:p>
        </p:txBody>
      </p:sp>
      <p:sp>
        <p:nvSpPr>
          <p:cNvPr id="24" name="">
            <a:extLst xmlns:a="http://schemas.openxmlformats.org/drawingml/2006/main">
              <a:ext uri="{FF2B5EF4-FFF2-40B4-BE49-F238E27FC236}">
                <a16:creationId xmlns:a16="http://schemas.microsoft.com/office/drawing/2014/main" id="{9282A303-3FAA-449A-B5D7-A7837325993E}"/>
              </a:ext>
            </a:extLst>
          </p:cNvPr>
          <p:cNvSpPr>
            <a:spLocks xmlns:a="http://schemas.openxmlformats.org/drawingml/2006/main" noGrp="1"/>
          </p:cNvSpPr>
          <p:nvPr/>
        </p:nvSpPr>
        <p:spPr>
          <a:xfrm xmlns:a="http://schemas.openxmlformats.org/drawingml/2006/main">
            <a:off x="7820025" y="1781175"/>
            <a:ext cx="1285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087E80"/>
                </a:solidFill>
                <a:latin typeface="Arial"/>
                <a:ea typeface="Arial"/>
                <a:cs typeface="Arial"/>
              </a:defRPr>
            </a:pPr>
            <a:r>
              <a:rPr sz="1200" b="1">
                <a:solidFill>
                  <a:srgbClr val="087E80"/>
                </a:solidFill>
                <a:latin typeface="Arial"/>
                <a:ea typeface="Arial"/>
                <a:cs typeface="Arial"/>
              </a:rPr>
              <a:t>PILOT</a:t>
            </a:r>
          </a:p>
        </p:txBody>
      </p:sp>
      <p:sp>
        <p:nvSpPr>
          <p:cNvPr id="25" name="">
            <a:extLst xmlns:a="http://schemas.openxmlformats.org/drawingml/2006/main">
              <a:ext uri="{FF2B5EF4-FFF2-40B4-BE49-F238E27FC236}">
                <a16:creationId xmlns:a16="http://schemas.microsoft.com/office/drawing/2014/main" id="{8616E3BF-C617-43B8-B8B6-747E73726EB1}"/>
              </a:ext>
            </a:extLst>
          </p:cNvPr>
          <p:cNvSpPr>
            <a:spLocks xmlns:a="http://schemas.openxmlformats.org/drawingml/2006/main" noGrp="1"/>
          </p:cNvSpPr>
          <p:nvPr/>
        </p:nvSpPr>
        <p:spPr>
          <a:xfrm xmlns:a="http://schemas.openxmlformats.org/drawingml/2006/main">
            <a:off x="7439025" y="2181225"/>
            <a:ext cx="1647825"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172B3C"/>
                </a:solidFill>
                <a:latin typeface="Arial"/>
                <a:ea typeface="Arial"/>
                <a:cs typeface="Arial"/>
              </a:defRPr>
            </a:pPr>
            <a:r>
              <a:rPr sz="1275" b="0">
                <a:solidFill>
                  <a:srgbClr val="172B3C"/>
                </a:solidFill>
                <a:latin typeface="Arial"/>
                <a:ea typeface="Arial"/>
                <a:cs typeface="Arial"/>
              </a:rPr>
              <a:t>Engineer-reviewed recommendations;</a:t>
            </a:r>
          </a:p>
          <a:p xmlns:a="http://schemas.openxmlformats.org/drawingml/2006/main">
            <a:pPr algn="l">
              <a:defRPr sz="1275" b="0">
                <a:solidFill>
                  <a:srgbClr val="172B3C"/>
                </a:solidFill>
                <a:latin typeface="Arial"/>
                <a:ea typeface="Arial"/>
                <a:cs typeface="Arial"/>
              </a:defRPr>
            </a:pPr>
            <a:r>
              <a:rPr sz="1275" b="0">
                <a:solidFill>
                  <a:srgbClr val="172B3C"/>
                </a:solidFill>
                <a:latin typeface="Arial"/>
                <a:ea typeface="Arial"/>
                <a:cs typeface="Arial"/>
              </a:rPr>
              <a:t>record outcomes and savings</a:t>
            </a:r>
          </a:p>
        </p:txBody>
      </p:sp>
      <p:sp>
        <p:nvSpPr>
          <p:cNvPr id="26" name="">
            <a:extLst xmlns:a="http://schemas.openxmlformats.org/drawingml/2006/main">
              <a:ext uri="{FF2B5EF4-FFF2-40B4-BE49-F238E27FC236}">
                <a16:creationId xmlns:a16="http://schemas.microsoft.com/office/drawing/2014/main" id="{C090BEA4-18F7-4BAD-BF30-D05FE2D2CCF3}"/>
              </a:ext>
            </a:extLst>
          </p:cNvPr>
          <p:cNvSpPr>
            <a:spLocks xmlns:a="http://schemas.openxmlformats.org/drawingml/2006/main" noGrp="1"/>
          </p:cNvSpPr>
          <p:nvPr/>
        </p:nvSpPr>
        <p:spPr>
          <a:xfrm xmlns:a="http://schemas.openxmlformats.org/drawingml/2006/main">
            <a:off x="9544050" y="1619250"/>
            <a:ext cx="1952625" cy="1428750"/>
          </a:xfrm>
          <a:prstGeom xmlns:a="http://schemas.openxmlformats.org/drawingml/2006/main" prst="roundRect">
            <a:avLst>
              <a:gd name="adj" fmla="val 7333"/>
            </a:avLst>
          </a:prstGeom>
          <a:solidFill xmlns:a="http://schemas.openxmlformats.org/drawingml/2006/main">
            <a:srgbClr val="183950"/>
          </a:solidFill>
          <a:ln xmlns:a="http://schemas.openxmlformats.org/drawingml/2006/main" w="9525">
            <a:solidFill>
              <a:srgbClr val="183950"/>
            </a:solidFill>
            <a:prstDash val="solid"/>
          </a:ln>
        </p:spPr>
      </p:sp>
      <p:sp>
        <p:nvSpPr>
          <p:cNvPr id="27" name="">
            <a:extLst xmlns:a="http://schemas.openxmlformats.org/drawingml/2006/main">
              <a:ext uri="{FF2B5EF4-FFF2-40B4-BE49-F238E27FC236}">
                <a16:creationId xmlns:a16="http://schemas.microsoft.com/office/drawing/2014/main" id="{3CC22373-084B-421D-A484-F2AFB498D5E1}"/>
              </a:ext>
            </a:extLst>
          </p:cNvPr>
          <p:cNvSpPr>
            <a:spLocks xmlns:a="http://schemas.openxmlformats.org/drawingml/2006/main" noGrp="1"/>
          </p:cNvSpPr>
          <p:nvPr/>
        </p:nvSpPr>
        <p:spPr>
          <a:xfrm xmlns:a="http://schemas.openxmlformats.org/drawingml/2006/main">
            <a:off x="9686925" y="1762125"/>
            <a:ext cx="285750" cy="285750"/>
          </a:xfrm>
          <a:prstGeom xmlns:a="http://schemas.openxmlformats.org/drawingml/2006/main" prst="ellipse">
            <a:avLst/>
          </a:prstGeom>
          <a:solidFill xmlns:a="http://schemas.openxmlformats.org/drawingml/2006/main">
            <a:srgbClr val="C77B19"/>
          </a:solidFill>
          <a:ln xmlns:a="http://schemas.openxmlformats.org/drawingml/2006/main" w="0">
            <a:solidFill>
              <a:srgbClr val="C77B19"/>
            </a:solidFill>
            <a:prstDash val="solid"/>
          </a:ln>
        </p:spPr>
      </p:sp>
      <p:sp>
        <p:nvSpPr>
          <p:cNvPr id="28" name="">
            <a:extLst xmlns:a="http://schemas.openxmlformats.org/drawingml/2006/main">
              <a:ext uri="{FF2B5EF4-FFF2-40B4-BE49-F238E27FC236}">
                <a16:creationId xmlns:a16="http://schemas.microsoft.com/office/drawing/2014/main" id="{F1F4AC55-ADAE-4A8B-9FE6-04008CA63CD2}"/>
              </a:ext>
            </a:extLst>
          </p:cNvPr>
          <p:cNvSpPr>
            <a:spLocks xmlns:a="http://schemas.openxmlformats.org/drawingml/2006/main" noGrp="1"/>
          </p:cNvSpPr>
          <p:nvPr/>
        </p:nvSpPr>
        <p:spPr>
          <a:xfrm xmlns:a="http://schemas.openxmlformats.org/drawingml/2006/main">
            <a:off x="9686925" y="180975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5</a:t>
            </a:r>
          </a:p>
        </p:txBody>
      </p:sp>
      <p:sp>
        <p:nvSpPr>
          <p:cNvPr id="29" name="">
            <a:extLst xmlns:a="http://schemas.openxmlformats.org/drawingml/2006/main">
              <a:ext uri="{FF2B5EF4-FFF2-40B4-BE49-F238E27FC236}">
                <a16:creationId xmlns:a16="http://schemas.microsoft.com/office/drawing/2014/main" id="{E629A40F-4C1D-4906-95CF-1453B94A8934}"/>
              </a:ext>
            </a:extLst>
          </p:cNvPr>
          <p:cNvSpPr>
            <a:spLocks xmlns:a="http://schemas.openxmlformats.org/drawingml/2006/main" noGrp="1"/>
          </p:cNvSpPr>
          <p:nvPr/>
        </p:nvSpPr>
        <p:spPr>
          <a:xfrm xmlns:a="http://schemas.openxmlformats.org/drawingml/2006/main">
            <a:off x="10077450" y="1781175"/>
            <a:ext cx="1285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BFE1E1"/>
                </a:solidFill>
                <a:latin typeface="Arial"/>
                <a:ea typeface="Arial"/>
                <a:cs typeface="Arial"/>
              </a:defRPr>
            </a:pPr>
            <a:r>
              <a:rPr sz="1200" b="1">
                <a:solidFill>
                  <a:srgbClr val="BFE1E1"/>
                </a:solidFill>
                <a:latin typeface="Arial"/>
                <a:ea typeface="Arial"/>
                <a:cs typeface="Arial"/>
              </a:rPr>
              <a:t>SCALE</a:t>
            </a:r>
          </a:p>
        </p:txBody>
      </p:sp>
      <p:sp>
        <p:nvSpPr>
          <p:cNvPr id="30" name="">
            <a:extLst xmlns:a="http://schemas.openxmlformats.org/drawingml/2006/main">
              <a:ext uri="{FF2B5EF4-FFF2-40B4-BE49-F238E27FC236}">
                <a16:creationId xmlns:a16="http://schemas.microsoft.com/office/drawing/2014/main" id="{B30050D0-5DE6-478B-A572-C0605DBC156B}"/>
              </a:ext>
            </a:extLst>
          </p:cNvPr>
          <p:cNvSpPr>
            <a:spLocks xmlns:a="http://schemas.openxmlformats.org/drawingml/2006/main" noGrp="1"/>
          </p:cNvSpPr>
          <p:nvPr/>
        </p:nvSpPr>
        <p:spPr>
          <a:xfrm xmlns:a="http://schemas.openxmlformats.org/drawingml/2006/main">
            <a:off x="9696450" y="2181225"/>
            <a:ext cx="1647825"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2415"/>
          </a:bodyPr>
          <a:lstStyle xmlns:a="http://schemas.openxmlformats.org/drawingml/2006/main"/>
          <a:p xmlns:a="http://schemas.openxmlformats.org/drawingml/2006/main">
            <a:pPr algn="l">
              <a:defRPr sz="1275" b="0">
                <a:solidFill>
                  <a:srgbClr val="FFFFFF"/>
                </a:solidFill>
                <a:latin typeface="Arial"/>
                <a:ea typeface="Arial"/>
                <a:cs typeface="Arial"/>
              </a:defRPr>
            </a:pPr>
            <a:r>
              <a:rPr sz="1275" b="0">
                <a:solidFill>
                  <a:srgbClr val="FFFFFF"/>
                </a:solidFill>
                <a:latin typeface="Arial"/>
                <a:ea typeface="Arial"/>
                <a:cs typeface="Arial"/>
              </a:rPr>
              <a:t>Approve platform-specific models;</a:t>
            </a:r>
          </a:p>
          <a:p xmlns:a="http://schemas.openxmlformats.org/drawingml/2006/main">
            <a:pPr algn="l">
              <a:defRPr sz="1275" b="0">
                <a:solidFill>
                  <a:srgbClr val="FFFFFF"/>
                </a:solidFill>
                <a:latin typeface="Arial"/>
                <a:ea typeface="Arial"/>
                <a:cs typeface="Arial"/>
              </a:defRPr>
            </a:pPr>
            <a:r>
              <a:rPr sz="1275" b="0">
                <a:solidFill>
                  <a:srgbClr val="FFFFFF"/>
                </a:solidFill>
                <a:latin typeface="Arial"/>
                <a:ea typeface="Arial"/>
                <a:cs typeface="Arial"/>
              </a:rPr>
              <a:t>monitor drift and audit changes</a:t>
            </a:r>
          </a:p>
        </p:txBody>
      </p:sp>
      <p:cxnSp>
        <p:nvCxnSpPr>
          <p:cNvPr id="77" name=""/>
          <p:cNvCxnSpPr>
            <a:stCxn xmlns:a="http://schemas.openxmlformats.org/drawingml/2006/main" id="6" idx="3"/>
            <a:endCxn xmlns:a="http://schemas.openxmlformats.org/drawingml/2006/main" id="11" idx="1"/>
          </p:cNvCxnSpPr>
          <p:nvPr/>
        </p:nvCxnSpPr>
        <p:spPr>
          <a:xfrm xmlns:a="http://schemas.openxmlformats.org/drawingml/2006/main">
            <a:off x="2466975" y="2333625"/>
            <a:ext cx="304800" cy="0"/>
          </a:xfrm>
          <a:prstGeom xmlns:a="http://schemas.openxmlformats.org/drawingml/2006/main" prst="straightConnector1">
            <a:avLst/>
          </a:prstGeom>
          <a:ln xmlns:a="http://schemas.openxmlformats.org/drawingml/2006/main" w="19050">
            <a:solidFill>
              <a:srgbClr val="087E80"/>
            </a:solidFill>
            <a:prstDash val="solid"/>
            <a:tailEnd type="triangle" w="med" len="med"/>
          </a:ln>
        </p:spPr>
      </p:cxnSp>
      <p:cxnSp>
        <p:nvCxnSpPr>
          <p:cNvPr id="78" name=""/>
          <p:cNvCxnSpPr>
            <a:stCxn xmlns:a="http://schemas.openxmlformats.org/drawingml/2006/main" id="11" idx="3"/>
            <a:endCxn xmlns:a="http://schemas.openxmlformats.org/drawingml/2006/main" id="16" idx="1"/>
          </p:cNvCxnSpPr>
          <p:nvPr/>
        </p:nvCxnSpPr>
        <p:spPr>
          <a:xfrm xmlns:a="http://schemas.openxmlformats.org/drawingml/2006/main">
            <a:off x="4724400" y="2333625"/>
            <a:ext cx="304800" cy="0"/>
          </a:xfrm>
          <a:prstGeom xmlns:a="http://schemas.openxmlformats.org/drawingml/2006/main" prst="straightConnector1">
            <a:avLst/>
          </a:prstGeom>
          <a:ln xmlns:a="http://schemas.openxmlformats.org/drawingml/2006/main" w="19050">
            <a:solidFill>
              <a:srgbClr val="087E80"/>
            </a:solidFill>
            <a:prstDash val="solid"/>
            <a:tailEnd type="triangle" w="med" len="med"/>
          </a:ln>
        </p:spPr>
      </p:cxnSp>
      <p:cxnSp>
        <p:nvCxnSpPr>
          <p:cNvPr id="79" name=""/>
          <p:cNvCxnSpPr>
            <a:stCxn xmlns:a="http://schemas.openxmlformats.org/drawingml/2006/main" id="16" idx="3"/>
            <a:endCxn xmlns:a="http://schemas.openxmlformats.org/drawingml/2006/main" id="21" idx="1"/>
          </p:cNvCxnSpPr>
          <p:nvPr/>
        </p:nvCxnSpPr>
        <p:spPr>
          <a:xfrm xmlns:a="http://schemas.openxmlformats.org/drawingml/2006/main">
            <a:off x="6981825" y="2333625"/>
            <a:ext cx="304800" cy="0"/>
          </a:xfrm>
          <a:prstGeom xmlns:a="http://schemas.openxmlformats.org/drawingml/2006/main" prst="straightConnector1">
            <a:avLst/>
          </a:prstGeom>
          <a:ln xmlns:a="http://schemas.openxmlformats.org/drawingml/2006/main" w="19050">
            <a:solidFill>
              <a:srgbClr val="087E80"/>
            </a:solidFill>
            <a:prstDash val="solid"/>
            <a:tailEnd type="triangle" w="med" len="med"/>
          </a:ln>
        </p:spPr>
      </p:cxnSp>
      <p:cxnSp>
        <p:nvCxnSpPr>
          <p:cNvPr id="80" name=""/>
          <p:cNvCxnSpPr>
            <a:stCxn xmlns:a="http://schemas.openxmlformats.org/drawingml/2006/main" id="21" idx="3"/>
            <a:endCxn xmlns:a="http://schemas.openxmlformats.org/drawingml/2006/main" id="26" idx="1"/>
          </p:cNvCxnSpPr>
          <p:nvPr/>
        </p:nvCxnSpPr>
        <p:spPr>
          <a:xfrm xmlns:a="http://schemas.openxmlformats.org/drawingml/2006/main">
            <a:off x="9239250" y="2333625"/>
            <a:ext cx="304800" cy="0"/>
          </a:xfrm>
          <a:prstGeom xmlns:a="http://schemas.openxmlformats.org/drawingml/2006/main" prst="straightConnector1">
            <a:avLst/>
          </a:prstGeom>
          <a:ln xmlns:a="http://schemas.openxmlformats.org/drawingml/2006/main" w="19050">
            <a:solidFill>
              <a:srgbClr val="087E80"/>
            </a:solidFill>
            <a:prstDash val="solid"/>
            <a:tailEnd type="triangle" w="med" len="med"/>
          </a:ln>
        </p:spPr>
      </p:cxnSp>
      <p:sp>
        <p:nvSpPr>
          <p:cNvPr id="35" name="">
            <a:extLst xmlns:a="http://schemas.openxmlformats.org/drawingml/2006/main">
              <a:ext uri="{FF2B5EF4-FFF2-40B4-BE49-F238E27FC236}">
                <a16:creationId xmlns:a16="http://schemas.microsoft.com/office/drawing/2014/main" id="{C38CDEB9-1E8A-4A88-938E-60302C92FB36}"/>
              </a:ext>
            </a:extLst>
          </p:cNvPr>
          <p:cNvSpPr>
            <a:spLocks xmlns:a="http://schemas.openxmlformats.org/drawingml/2006/main" noGrp="1"/>
          </p:cNvSpPr>
          <p:nvPr/>
        </p:nvSpPr>
        <p:spPr>
          <a:xfrm xmlns:a="http://schemas.openxmlformats.org/drawingml/2006/main">
            <a:off x="552450" y="3381375"/>
            <a:ext cx="10668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0263B"/>
                </a:solidFill>
                <a:latin typeface="Arial"/>
                <a:ea typeface="Arial"/>
                <a:cs typeface="Arial"/>
              </a:defRPr>
            </a:pPr>
            <a:r>
              <a:rPr sz="1350" b="1">
                <a:solidFill>
                  <a:srgbClr val="10263B"/>
                </a:solidFill>
                <a:latin typeface="Arial"/>
                <a:ea typeface="Arial"/>
                <a:cs typeface="Arial"/>
              </a:rPr>
              <a:t>AUTHORIZED DATA REQUEST  /  MINIMUM USEFUL PILOT</a:t>
            </a:r>
          </a:p>
        </p:txBody>
      </p:sp>
      <p:sp>
        <p:nvSpPr>
          <p:cNvPr id="36" name="">
            <a:extLst xmlns:a="http://schemas.openxmlformats.org/drawingml/2006/main">
              <a:ext uri="{FF2B5EF4-FFF2-40B4-BE49-F238E27FC236}">
                <a16:creationId xmlns:a16="http://schemas.microsoft.com/office/drawing/2014/main" id="{625A2F95-15B6-4BAD-88E8-600C79C28BCF}"/>
              </a:ext>
            </a:extLst>
          </p:cNvPr>
          <p:cNvSpPr>
            <a:spLocks xmlns:a="http://schemas.openxmlformats.org/drawingml/2006/main" noGrp="1"/>
          </p:cNvSpPr>
          <p:nvPr/>
        </p:nvSpPr>
        <p:spPr>
          <a:xfrm xmlns:a="http://schemas.openxmlformats.org/drawingml/2006/main">
            <a:off x="552450" y="3800475"/>
            <a:ext cx="3238500" cy="0"/>
          </a:xfrm>
          <a:prstGeom xmlns:a="http://schemas.openxmlformats.org/drawingml/2006/main" prst="line">
            <a:avLst/>
          </a:prstGeom>
          <a:noFill xmlns:a="http://schemas.openxmlformats.org/drawingml/2006/main"/>
          <a:ln xmlns:a="http://schemas.openxmlformats.org/drawingml/2006/main" w="38100">
            <a:solidFill>
              <a:srgbClr val="087E80"/>
            </a:solidFill>
            <a:prstDash val="solid"/>
          </a:ln>
        </p:spPr>
      </p:sp>
      <p:sp>
        <p:nvSpPr>
          <p:cNvPr id="37" name="">
            <a:extLst xmlns:a="http://schemas.openxmlformats.org/drawingml/2006/main">
              <a:ext uri="{FF2B5EF4-FFF2-40B4-BE49-F238E27FC236}">
                <a16:creationId xmlns:a16="http://schemas.microsoft.com/office/drawing/2014/main" id="{B9C50814-31BE-4BE6-990F-961EA7442BA8}"/>
              </a:ext>
            </a:extLst>
          </p:cNvPr>
          <p:cNvSpPr>
            <a:spLocks xmlns:a="http://schemas.openxmlformats.org/drawingml/2006/main" noGrp="1"/>
          </p:cNvSpPr>
          <p:nvPr/>
        </p:nvSpPr>
        <p:spPr>
          <a:xfrm xmlns:a="http://schemas.openxmlformats.org/drawingml/2006/main">
            <a:off x="552450" y="3943350"/>
            <a:ext cx="3286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087E80"/>
                </a:solidFill>
                <a:latin typeface="Arial"/>
                <a:ea typeface="Arial"/>
                <a:cs typeface="Arial"/>
              </a:defRPr>
            </a:pPr>
            <a:r>
              <a:rPr sz="1200" b="1">
                <a:solidFill>
                  <a:srgbClr val="087E80"/>
                </a:solidFill>
                <a:latin typeface="Arial"/>
                <a:ea typeface="Arial"/>
                <a:cs typeface="Arial"/>
              </a:rPr>
              <a:t>HEALTH</a:t>
            </a:r>
          </a:p>
        </p:txBody>
      </p:sp>
      <p:sp>
        <p:nvSpPr>
          <p:cNvPr id="38" name="">
            <a:extLst xmlns:a="http://schemas.openxmlformats.org/drawingml/2006/main">
              <a:ext uri="{FF2B5EF4-FFF2-40B4-BE49-F238E27FC236}">
                <a16:creationId xmlns:a16="http://schemas.microsoft.com/office/drawing/2014/main" id="{FE50C26F-31AE-4409-B3BB-736434AB100C}"/>
              </a:ext>
            </a:extLst>
          </p:cNvPr>
          <p:cNvSpPr>
            <a:spLocks xmlns:a="http://schemas.openxmlformats.org/drawingml/2006/main" noGrp="1"/>
          </p:cNvSpPr>
          <p:nvPr/>
        </p:nvSpPr>
        <p:spPr>
          <a:xfrm xmlns:a="http://schemas.openxmlformats.org/drawingml/2006/main">
            <a:off x="552450" y="4286250"/>
            <a:ext cx="3333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172B3C"/>
                </a:solidFill>
                <a:latin typeface="Arial"/>
                <a:ea typeface="Arial"/>
                <a:cs typeface="Arial"/>
              </a:defRPr>
            </a:pPr>
            <a:r>
              <a:rPr sz="1275" b="0">
                <a:solidFill>
                  <a:srgbClr val="172B3C"/>
                </a:solidFill>
                <a:latin typeface="Arial"/>
                <a:ea typeface="Arial"/>
                <a:cs typeface="Arial"/>
              </a:rPr>
              <a:t>Timestamp · aircraft/component key</a:t>
            </a:r>
          </a:p>
          <a:p xmlns:a="http://schemas.openxmlformats.org/drawingml/2006/main">
            <a:pPr algn="l">
              <a:defRPr sz="1275" b="0">
                <a:solidFill>
                  <a:srgbClr val="172B3C"/>
                </a:solidFill>
                <a:latin typeface="Arial"/>
                <a:ea typeface="Arial"/>
                <a:cs typeface="Arial"/>
              </a:defRPr>
            </a:pPr>
            <a:r>
              <a:rPr sz="1275" b="0">
                <a:solidFill>
                  <a:srgbClr val="172B3C"/>
                </a:solidFill>
                <a:latin typeface="Arial"/>
                <a:ea typeface="Arial"/>
                <a:cs typeface="Arial"/>
              </a:rPr>
              <a:t>sensor value · unit · operating regime</a:t>
            </a:r>
          </a:p>
        </p:txBody>
      </p:sp>
      <p:sp>
        <p:nvSpPr>
          <p:cNvPr id="39" name="">
            <a:extLst xmlns:a="http://schemas.openxmlformats.org/drawingml/2006/main">
              <a:ext uri="{FF2B5EF4-FFF2-40B4-BE49-F238E27FC236}">
                <a16:creationId xmlns:a16="http://schemas.microsoft.com/office/drawing/2014/main" id="{F654EF04-1B4E-41A8-90E3-8C139F2C40DE}"/>
              </a:ext>
            </a:extLst>
          </p:cNvPr>
          <p:cNvSpPr>
            <a:spLocks xmlns:a="http://schemas.openxmlformats.org/drawingml/2006/main" noGrp="1"/>
          </p:cNvSpPr>
          <p:nvPr/>
        </p:nvSpPr>
        <p:spPr>
          <a:xfrm xmlns:a="http://schemas.openxmlformats.org/drawingml/2006/main">
            <a:off x="4267200" y="3800475"/>
            <a:ext cx="3238500" cy="0"/>
          </a:xfrm>
          <a:prstGeom xmlns:a="http://schemas.openxmlformats.org/drawingml/2006/main" prst="line">
            <a:avLst/>
          </a:prstGeom>
          <a:noFill xmlns:a="http://schemas.openxmlformats.org/drawingml/2006/main"/>
          <a:ln xmlns:a="http://schemas.openxmlformats.org/drawingml/2006/main" w="38100">
            <a:solidFill>
              <a:srgbClr val="C77B19"/>
            </a:solidFill>
            <a:prstDash val="solid"/>
          </a:ln>
        </p:spPr>
      </p:sp>
      <p:sp>
        <p:nvSpPr>
          <p:cNvPr id="40" name="">
            <a:extLst xmlns:a="http://schemas.openxmlformats.org/drawingml/2006/main">
              <a:ext uri="{FF2B5EF4-FFF2-40B4-BE49-F238E27FC236}">
                <a16:creationId xmlns:a16="http://schemas.microsoft.com/office/drawing/2014/main" id="{01603E52-B30C-4588-9738-81FA847E040F}"/>
              </a:ext>
            </a:extLst>
          </p:cNvPr>
          <p:cNvSpPr>
            <a:spLocks xmlns:a="http://schemas.openxmlformats.org/drawingml/2006/main" noGrp="1"/>
          </p:cNvSpPr>
          <p:nvPr/>
        </p:nvSpPr>
        <p:spPr>
          <a:xfrm xmlns:a="http://schemas.openxmlformats.org/drawingml/2006/main">
            <a:off x="4267200" y="3943350"/>
            <a:ext cx="3286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C77B19"/>
                </a:solidFill>
                <a:latin typeface="Arial"/>
                <a:ea typeface="Arial"/>
                <a:cs typeface="Arial"/>
              </a:defRPr>
            </a:pPr>
            <a:r>
              <a:rPr sz="1200" b="1">
                <a:solidFill>
                  <a:srgbClr val="C77B19"/>
                </a:solidFill>
                <a:latin typeface="Arial"/>
                <a:ea typeface="Arial"/>
                <a:cs typeface="Arial"/>
              </a:rPr>
              <a:t>MAINTENANCE</a:t>
            </a:r>
          </a:p>
        </p:txBody>
      </p:sp>
      <p:sp>
        <p:nvSpPr>
          <p:cNvPr id="41" name="">
            <a:extLst xmlns:a="http://schemas.openxmlformats.org/drawingml/2006/main">
              <a:ext uri="{FF2B5EF4-FFF2-40B4-BE49-F238E27FC236}">
                <a16:creationId xmlns:a16="http://schemas.microsoft.com/office/drawing/2014/main" id="{839136D9-E80A-4DB3-B803-A1CFA13A1C78}"/>
              </a:ext>
            </a:extLst>
          </p:cNvPr>
          <p:cNvSpPr>
            <a:spLocks xmlns:a="http://schemas.openxmlformats.org/drawingml/2006/main" noGrp="1"/>
          </p:cNvSpPr>
          <p:nvPr/>
        </p:nvSpPr>
        <p:spPr>
          <a:xfrm xmlns:a="http://schemas.openxmlformats.org/drawingml/2006/main">
            <a:off x="4267200" y="4286250"/>
            <a:ext cx="3333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172B3C"/>
                </a:solidFill>
                <a:latin typeface="Arial"/>
                <a:ea typeface="Arial"/>
                <a:cs typeface="Arial"/>
              </a:defRPr>
            </a:pPr>
            <a:r>
              <a:rPr sz="1275" b="0">
                <a:solidFill>
                  <a:srgbClr val="172B3C"/>
                </a:solidFill>
                <a:latin typeface="Arial"/>
                <a:ea typeface="Arial"/>
                <a:cs typeface="Arial"/>
              </a:rPr>
              <a:t>Defect code · finding · task</a:t>
            </a:r>
          </a:p>
          <a:p xmlns:a="http://schemas.openxmlformats.org/drawingml/2006/main">
            <a:pPr algn="l">
              <a:defRPr sz="1275" b="0">
                <a:solidFill>
                  <a:srgbClr val="172B3C"/>
                </a:solidFill>
                <a:latin typeface="Arial"/>
                <a:ea typeface="Arial"/>
                <a:cs typeface="Arial"/>
              </a:defRPr>
            </a:pPr>
            <a:r>
              <a:rPr sz="1275" b="0">
                <a:solidFill>
                  <a:srgbClr val="172B3C"/>
                </a:solidFill>
                <a:latin typeface="Arial"/>
                <a:ea typeface="Arial"/>
                <a:cs typeface="Arial"/>
              </a:rPr>
              <a:t>opened/closed · return-to-service</a:t>
            </a:r>
          </a:p>
        </p:txBody>
      </p:sp>
      <p:sp>
        <p:nvSpPr>
          <p:cNvPr id="42" name="">
            <a:extLst xmlns:a="http://schemas.openxmlformats.org/drawingml/2006/main">
              <a:ext uri="{FF2B5EF4-FFF2-40B4-BE49-F238E27FC236}">
                <a16:creationId xmlns:a16="http://schemas.microsoft.com/office/drawing/2014/main" id="{1FB9ED08-6794-4A83-B907-F3D906005DCC}"/>
              </a:ext>
            </a:extLst>
          </p:cNvPr>
          <p:cNvSpPr>
            <a:spLocks xmlns:a="http://schemas.openxmlformats.org/drawingml/2006/main" noGrp="1"/>
          </p:cNvSpPr>
          <p:nvPr/>
        </p:nvSpPr>
        <p:spPr>
          <a:xfrm xmlns:a="http://schemas.openxmlformats.org/drawingml/2006/main">
            <a:off x="7981950" y="3800475"/>
            <a:ext cx="3238500" cy="0"/>
          </a:xfrm>
          <a:prstGeom xmlns:a="http://schemas.openxmlformats.org/drawingml/2006/main" prst="line">
            <a:avLst/>
          </a:prstGeom>
          <a:noFill xmlns:a="http://schemas.openxmlformats.org/drawingml/2006/main"/>
          <a:ln xmlns:a="http://schemas.openxmlformats.org/drawingml/2006/main" w="38100">
            <a:solidFill>
              <a:srgbClr val="087E80"/>
            </a:solidFill>
            <a:prstDash val="solid"/>
          </a:ln>
        </p:spPr>
      </p:sp>
      <p:sp>
        <p:nvSpPr>
          <p:cNvPr id="43" name="">
            <a:extLst xmlns:a="http://schemas.openxmlformats.org/drawingml/2006/main">
              <a:ext uri="{FF2B5EF4-FFF2-40B4-BE49-F238E27FC236}">
                <a16:creationId xmlns:a16="http://schemas.microsoft.com/office/drawing/2014/main" id="{FC657F94-1BFC-4378-B75D-A264DB42D36A}"/>
              </a:ext>
            </a:extLst>
          </p:cNvPr>
          <p:cNvSpPr>
            <a:spLocks xmlns:a="http://schemas.openxmlformats.org/drawingml/2006/main" noGrp="1"/>
          </p:cNvSpPr>
          <p:nvPr/>
        </p:nvSpPr>
        <p:spPr>
          <a:xfrm xmlns:a="http://schemas.openxmlformats.org/drawingml/2006/main">
            <a:off x="7981950" y="3943350"/>
            <a:ext cx="3286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087E80"/>
                </a:solidFill>
                <a:latin typeface="Arial"/>
                <a:ea typeface="Arial"/>
                <a:cs typeface="Arial"/>
              </a:defRPr>
            </a:pPr>
            <a:r>
              <a:rPr sz="1200" b="1">
                <a:solidFill>
                  <a:srgbClr val="087E80"/>
                </a:solidFill>
                <a:latin typeface="Arial"/>
                <a:ea typeface="Arial"/>
                <a:cs typeface="Arial"/>
              </a:rPr>
              <a:t>OPERATIONS &amp; SUPPLY</a:t>
            </a:r>
          </a:p>
        </p:txBody>
      </p:sp>
      <p:sp>
        <p:nvSpPr>
          <p:cNvPr id="44" name="">
            <a:extLst xmlns:a="http://schemas.openxmlformats.org/drawingml/2006/main">
              <a:ext uri="{FF2B5EF4-FFF2-40B4-BE49-F238E27FC236}">
                <a16:creationId xmlns:a16="http://schemas.microsoft.com/office/drawing/2014/main" id="{1AEFDA53-E1DA-4115-B598-DFB2E6A5B830}"/>
              </a:ext>
            </a:extLst>
          </p:cNvPr>
          <p:cNvSpPr>
            <a:spLocks xmlns:a="http://schemas.openxmlformats.org/drawingml/2006/main" noGrp="1"/>
          </p:cNvSpPr>
          <p:nvPr/>
        </p:nvSpPr>
        <p:spPr>
          <a:xfrm xmlns:a="http://schemas.openxmlformats.org/drawingml/2006/main">
            <a:off x="7981950" y="4286250"/>
            <a:ext cx="3333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172B3C"/>
                </a:solidFill>
                <a:latin typeface="Arial"/>
                <a:ea typeface="Arial"/>
                <a:cs typeface="Arial"/>
              </a:defRPr>
            </a:pPr>
            <a:r>
              <a:rPr sz="1275" b="0">
                <a:solidFill>
                  <a:srgbClr val="172B3C"/>
                </a:solidFill>
                <a:latin typeface="Arial"/>
                <a:ea typeface="Arial"/>
                <a:cs typeface="Arial"/>
              </a:rPr>
              <a:t>Flight hours/cycles · status history</a:t>
            </a:r>
          </a:p>
          <a:p xmlns:a="http://schemas.openxmlformats.org/drawingml/2006/main">
            <a:pPr algn="l">
              <a:defRPr sz="1275" b="0">
                <a:solidFill>
                  <a:srgbClr val="172B3C"/>
                </a:solidFill>
                <a:latin typeface="Arial"/>
                <a:ea typeface="Arial"/>
                <a:cs typeface="Arial"/>
              </a:defRPr>
            </a:pPr>
            <a:r>
              <a:rPr sz="1275" b="0">
                <a:solidFill>
                  <a:srgbClr val="172B3C"/>
                </a:solidFill>
                <a:latin typeface="Arial"/>
                <a:ea typeface="Arial"/>
                <a:cs typeface="Arial"/>
              </a:rPr>
              <a:t>part issue/stock · team capacity</a:t>
            </a:r>
          </a:p>
        </p:txBody>
      </p:sp>
      <p:sp>
        <p:nvSpPr>
          <p:cNvPr id="45" name="">
            <a:extLst xmlns:a="http://schemas.openxmlformats.org/drawingml/2006/main">
              <a:ext uri="{FF2B5EF4-FFF2-40B4-BE49-F238E27FC236}">
                <a16:creationId xmlns:a16="http://schemas.microsoft.com/office/drawing/2014/main" id="{10E88921-3172-42C0-A515-3308597533B5}"/>
              </a:ext>
            </a:extLst>
          </p:cNvPr>
          <p:cNvSpPr>
            <a:spLocks xmlns:a="http://schemas.openxmlformats.org/drawingml/2006/main" noGrp="1"/>
          </p:cNvSpPr>
          <p:nvPr/>
        </p:nvSpPr>
        <p:spPr>
          <a:xfrm xmlns:a="http://schemas.openxmlformats.org/drawingml/2006/main">
            <a:off x="552450" y="5305425"/>
            <a:ext cx="10953750" cy="676275"/>
          </a:xfrm>
          <a:prstGeom xmlns:a="http://schemas.openxmlformats.org/drawingml/2006/main" prst="roundRect">
            <a:avLst>
              <a:gd name="adj" fmla="val 12676"/>
            </a:avLst>
          </a:prstGeom>
          <a:solidFill xmlns:a="http://schemas.openxmlformats.org/drawingml/2006/main">
            <a:srgbClr val="FFF2DB"/>
          </a:solidFill>
          <a:ln xmlns:a="http://schemas.openxmlformats.org/drawingml/2006/main" w="9525">
            <a:solidFill>
              <a:srgbClr val="FFF2DB"/>
            </a:solidFill>
            <a:prstDash val="solid"/>
          </a:ln>
        </p:spPr>
      </p:sp>
      <p:sp>
        <p:nvSpPr>
          <p:cNvPr id="46" name="">
            <a:extLst xmlns:a="http://schemas.openxmlformats.org/drawingml/2006/main">
              <a:ext uri="{FF2B5EF4-FFF2-40B4-BE49-F238E27FC236}">
                <a16:creationId xmlns:a16="http://schemas.microsoft.com/office/drawing/2014/main" id="{71FF7393-8096-4303-B5B6-AAE937A4E2C6}"/>
              </a:ext>
            </a:extLst>
          </p:cNvPr>
          <p:cNvSpPr>
            <a:spLocks xmlns:a="http://schemas.openxmlformats.org/drawingml/2006/main" noGrp="1"/>
          </p:cNvSpPr>
          <p:nvPr/>
        </p:nvSpPr>
        <p:spPr>
          <a:xfrm xmlns:a="http://schemas.openxmlformats.org/drawingml/2006/main">
            <a:off x="742950" y="5448300"/>
            <a:ext cx="10477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72B3C"/>
                </a:solidFill>
                <a:latin typeface="Arial"/>
                <a:ea typeface="Arial"/>
                <a:cs typeface="Arial"/>
              </a:defRPr>
            </a:pPr>
            <a:r>
              <a:rPr sz="1275" b="1">
                <a:solidFill>
                  <a:srgbClr val="172B3C"/>
                </a:solidFill>
                <a:latin typeface="Arial"/>
                <a:ea typeface="Arial"/>
                <a:cs typeface="Arial"/>
              </a:rPr>
              <a:t>Security boundary: deploy only on an MoD-approved environment; apply least-privilege access, encryption, audit logs and explicit engineering approval. Do not send restricted data to public services.</a:t>
            </a:r>
          </a:p>
        </p:txBody>
      </p:sp>
    </p:spTree>
    <p:extLst>
      <p:ext uri="{BB962C8B-B14F-4D97-AF65-F5344CB8AC3E}">
        <p14:creationId xmlns:p14="http://schemas.microsoft.com/office/powerpoint/2010/main" val="132545528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2026-10-05T13:34:50.1010000Z</dcterms:created>
  <dcterms:modified xsi:type="dcterms:W3CDTF">2026-10-05T13:34:50.1010000Z</dcterms:modified>
</coreProperties>
</file>